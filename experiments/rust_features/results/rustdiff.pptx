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7" r:id="rId4"/>
    <p:sldId id="258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8"/>
    <p:restoredTop sz="94637"/>
  </p:normalViewPr>
  <p:slideViewPr>
    <p:cSldViewPr snapToGrid="0">
      <p:cViewPr varScale="1">
        <p:scale>
          <a:sx n="195" d="100"/>
          <a:sy n="195" d="100"/>
        </p:scale>
        <p:origin x="5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01:14:47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5DE18-4042-5748-8DD3-D7114753C6D8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51BB8-06E6-3741-ABD0-8687BD24B55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494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E5D1-3B9E-C964-5386-7E3704C97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D88E3-706F-5BEA-1D6F-2A6640CDB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792EB-856C-3FF0-3E68-F05AC677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26752-C5BA-7098-94D0-F5F0E5908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23F45-58D0-53EB-68D9-69025030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77965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3F5D-2B3C-B572-2357-02466786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26BD2-AA94-F92C-538E-BE250173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04489-0F56-4D52-20DA-D514EC13E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6A78F-1353-00C2-254E-A6A9DFCA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C530-6CAA-E6D1-DDAD-E5278471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3511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2BDA-D9A8-C43E-95FB-D97154AB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FC548-2EE7-2314-77EC-D4E167181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A4E60-97BC-526A-991B-CF25B4C09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05DA9-B37A-2488-7E16-E4925C9F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145CF-C68F-DFC0-9050-74A0DA97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247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E3EB-7013-161A-D46F-15BB4698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82FB-56B7-051A-547D-8200F1138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95077-B368-15BF-40EC-109470DC8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41C72-614F-2493-9B8E-39194547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0A295-16EE-087F-5E3D-DAC0378D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4653A-054A-CA00-6D2C-7F676505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6034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24E61-19C9-5C55-A864-5E40A0E0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B2B37-8D7D-2947-1E5C-5A0261350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CE19F-42EF-8CC8-DFE0-F39878A28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5BE37D-B50B-8244-15FD-E5F79154C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014EE-F229-00E4-A693-06D209429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15AAF8-DA8C-55B9-FF87-91FC182A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4E4D8-C372-FD8E-6B8B-5D866E18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CEFEB-37F1-16CB-E118-0F7DB24D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1290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19EC-C4D4-618D-5755-846198EE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853CD-4357-538E-B13E-7F0CAE6BE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B2AE5-D85D-4047-7B93-6D0C796A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8E024-A7EC-F12B-C205-6357E184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25980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F3BB4-B3A7-5E77-DC1B-D0CFD9094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21043-5AE7-D8B8-6E29-10CE7B08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CDC16-2CBF-DB2F-4EE5-070E0798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326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ED17-CBCE-8D90-37B5-B007F9866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F0EF-3292-0A16-A56E-98B34A797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08C69-70E1-326C-657C-672456F4B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5F7AC-5904-9AB2-E746-02145FD3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1B45D-893C-21C3-2FF5-7B1CF377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CB096-72A3-3B4A-7D8D-664337DB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6938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F02F-9DDF-CC27-24E1-C70F91052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B639A-973A-E257-7F63-483CC2AAF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138B9-7DA2-65ED-063D-CF162E8A1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C5DAD-9560-346A-6DAA-286E992D9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4D258-B19C-D70B-CC0C-53B80197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E9C46-CE19-80E7-6EE5-D0908B99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2194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DDEE-BE1F-A85C-00CA-7821199B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67556-350A-E9C9-2D73-C24427593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F1E42-18BB-37A6-61E9-0C6C7F78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0F1B9-4E2E-7EA8-53BE-9A52F211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BAFC-5B7C-CEB3-CD85-3F715DE1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31173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CE03A6-8D63-E724-B316-20C43F9C5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C1739-9B57-741B-04D9-6ED377251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62DF5-7114-EF59-0C9F-DFA89316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A4097-C743-4F83-BC28-79C3A5149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8AFBC-A786-AE9A-F34A-29A8F1D9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358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527F84-8056-5ED2-DA18-90732D29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A1E8D-2A6E-C31F-9D8F-406A20383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DAA9C-41AD-9A25-A6C5-77554EA24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BB63A-4657-9243-AC24-14F9198F0CBE}" type="datetimeFigureOut">
              <a:rPr lang="en-CN" smtClean="0"/>
              <a:t>2026/4/23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A1686-3586-B54D-97C7-1F8E4886A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1EC17-DA82-EA2A-CB53-A02D29B3B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09662F-1EBD-844B-9AC4-922C8651A91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34313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90057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A6BD4"/>
                </a:solidFill>
                <a:latin typeface="Calibri"/>
              </a:defRPr>
            </a:pPr>
            <a:r>
              <a:rPr sz="6000" dirty="0" err="1">
                <a:latin typeface="Helvetica" pitchFamily="2" charset="0"/>
              </a:rPr>
              <a:t>RustDiff</a:t>
            </a:r>
            <a:endParaRPr sz="6000" dirty="0">
              <a:latin typeface="Helvetica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6131" y="3190297"/>
            <a:ext cx="10959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A1A2E"/>
                </a:solidFill>
                <a:latin typeface="Calibri"/>
              </a:defRPr>
            </a:pPr>
            <a:r>
              <a:rPr sz="3200" dirty="0">
                <a:latin typeface="Helvetica" pitchFamily="2" charset="0"/>
              </a:rPr>
              <a:t>How Rust Language Features Affect Binary Block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56D76"/>
                </a:solidFill>
                <a:latin typeface="Calibri"/>
              </a:defRPr>
            </a:pPr>
            <a:r>
              <a:rPr lang="en-US" sz="2400" dirty="0"/>
              <a:t>Zhijie Liu &amp; Haotian Luo</a:t>
            </a:r>
            <a:r>
              <a:rPr sz="2400" dirty="0"/>
              <a:t>  •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97847-BB8A-4EEB-9F60-E645E90D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07029-759B-92EB-A261-17733C2B3598}"/>
              </a:ext>
            </a:extLst>
          </p:cNvPr>
          <p:cNvSpPr txBox="1"/>
          <p:nvPr/>
        </p:nvSpPr>
        <p:spPr>
          <a:xfrm>
            <a:off x="54864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rPr lang="en-US" dirty="0"/>
              <a:t>Background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EF91D-AE05-EE61-3BFC-7C8F77FF4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857" y="912705"/>
            <a:ext cx="9894286" cy="52024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061B46-37A6-68BA-C35C-BE01EBBE4BDC}"/>
              </a:ext>
            </a:extLst>
          </p:cNvPr>
          <p:cNvSpPr/>
          <p:nvPr/>
        </p:nvSpPr>
        <p:spPr>
          <a:xfrm>
            <a:off x="7432766" y="4108265"/>
            <a:ext cx="3610377" cy="6858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DAF7A-0958-A983-415A-0E87910127BC}"/>
              </a:ext>
            </a:extLst>
          </p:cNvPr>
          <p:cNvSpPr txBox="1"/>
          <p:nvPr/>
        </p:nvSpPr>
        <p:spPr>
          <a:xfrm>
            <a:off x="10020979" y="369258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latin typeface="Helvetica" pitchFamily="2" charset="0"/>
              </a:rPr>
              <a:t>Patch for CVE</a:t>
            </a:r>
          </a:p>
        </p:txBody>
      </p:sp>
      <p:sp>
        <p:nvSpPr>
          <p:cNvPr id="9" name="5-Point Star 8">
            <a:extLst>
              <a:ext uri="{FF2B5EF4-FFF2-40B4-BE49-F238E27FC236}">
                <a16:creationId xmlns:a16="http://schemas.microsoft.com/office/drawing/2014/main" id="{6D2B6D2E-CB17-9D8C-52F5-5F45686FC3FA}"/>
              </a:ext>
            </a:extLst>
          </p:cNvPr>
          <p:cNvSpPr/>
          <p:nvPr/>
        </p:nvSpPr>
        <p:spPr>
          <a:xfrm>
            <a:off x="9890350" y="3561951"/>
            <a:ext cx="261257" cy="261258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8592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CFBE-EB1D-9A90-4FE8-6F77D7D22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D15B8-6B33-4BB7-947B-0642FC95B62B}"/>
              </a:ext>
            </a:extLst>
          </p:cNvPr>
          <p:cNvSpPr txBox="1"/>
          <p:nvPr/>
        </p:nvSpPr>
        <p:spPr>
          <a:xfrm>
            <a:off x="54864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rPr lang="en-US" dirty="0"/>
              <a:t>Background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216A8-C62A-A2A3-4401-FA20102F1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08" y="812882"/>
            <a:ext cx="8821783" cy="590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8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rPr lang="en-US" dirty="0"/>
              <a:t>The Problem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73974" y="1574390"/>
            <a:ext cx="10522131" cy="185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  <a:latin typeface="Calibri"/>
              </a:defRPr>
            </a:pPr>
            <a:r>
              <a:rPr sz="2400" dirty="0">
                <a:latin typeface="Helvetica" pitchFamily="2" charset="0"/>
              </a:rPr>
              <a:t>Tools like </a:t>
            </a:r>
            <a:r>
              <a:rPr sz="2400" dirty="0" err="1">
                <a:latin typeface="Helvetica" pitchFamily="2" charset="0"/>
              </a:rPr>
              <a:t>BinDiff</a:t>
            </a:r>
            <a:r>
              <a:rPr sz="2400" dirty="0">
                <a:latin typeface="Helvetica" pitchFamily="2" charset="0"/>
              </a:rPr>
              <a:t> &amp; </a:t>
            </a:r>
            <a:r>
              <a:rPr sz="2400" dirty="0" err="1">
                <a:latin typeface="Helvetica" pitchFamily="2" charset="0"/>
              </a:rPr>
              <a:t>Diaphora</a:t>
            </a:r>
            <a:r>
              <a:rPr sz="2400" dirty="0">
                <a:latin typeface="Helvetica" pitchFamily="2" charset="0"/>
              </a:rPr>
              <a:t> were designed with C/C++ in mind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A1A2E"/>
                </a:solidFill>
                <a:latin typeface="Calibri"/>
              </a:defRPr>
            </a:pPr>
            <a:r>
              <a:rPr sz="2400" dirty="0">
                <a:latin typeface="Helvetica" pitchFamily="2" charset="0"/>
              </a:rPr>
              <a:t>Rust adoption is growing fast in systems software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B47A00"/>
                </a:solidFill>
                <a:latin typeface="Calibri"/>
              </a:defRPr>
            </a:pPr>
            <a:r>
              <a:rPr sz="2400" b="1" i="1" dirty="0">
                <a:solidFill>
                  <a:srgbClr val="C00000"/>
                </a:solidFill>
                <a:latin typeface="Helvetica" pitchFamily="2" charset="0"/>
              </a:rPr>
              <a:t>Do existing matching features still work on Rust binaries?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19910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Calibri"/>
              </a:defRPr>
            </a:pPr>
            <a:r>
              <a:rPr lang="en-US" altLang="zh-CN" sz="2400" dirty="0">
                <a:latin typeface="Helvetica" pitchFamily="2" charset="0"/>
              </a:rPr>
              <a:t>4</a:t>
            </a:r>
            <a:r>
              <a:rPr sz="2400" dirty="0">
                <a:latin typeface="Helvetica" pitchFamily="2" charset="0"/>
              </a:rPr>
              <a:t> Rust-specific features tested (20 functions each):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8301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 sz="2000" dirty="0">
                <a:latin typeface="Helvetica" pitchFamily="2" charset="0"/>
              </a:rPr>
              <a:t>• Bounds Checking (</a:t>
            </a:r>
            <a:r>
              <a:rPr sz="2000" dirty="0" err="1">
                <a:latin typeface="Helvetica" pitchFamily="2" charset="0"/>
              </a:rPr>
              <a:t>bc</a:t>
            </a:r>
            <a:r>
              <a:rPr sz="2000" dirty="0">
                <a:latin typeface="Helvetica" pitchFamily="2" charset="0"/>
              </a:rPr>
              <a:t>_)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737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 sz="2000">
                <a:latin typeface="Helvetica" pitchFamily="2" charset="0"/>
              </a:rPr>
              <a:t>• Drop Glue / RAII (dg_)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7173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 sz="2000">
                <a:latin typeface="Helvetica" pitchFamily="2" charset="0"/>
              </a:rPr>
              <a:t>• ? Operator (qm_)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6609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 sz="2000">
                <a:latin typeface="Helvetica" pitchFamily="2" charset="0"/>
              </a:rPr>
              <a:t>• Panic Paths (pu_)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19910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Calibri"/>
              </a:defRPr>
            </a:pPr>
            <a:r>
              <a:rPr sz="2400" dirty="0">
                <a:latin typeface="Helvetica" pitchFamily="2" charset="0"/>
              </a:rPr>
              <a:t>3 matching features compared: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1878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 sz="2000" dirty="0">
                <a:latin typeface="Helvetica" pitchFamily="2" charset="0"/>
              </a:rPr>
              <a:t>• Value-based (micro-execution</a:t>
            </a:r>
            <a:r>
              <a:rPr lang="en-US" sz="2000" dirty="0">
                <a:latin typeface="Helvetica" pitchFamily="2" charset="0"/>
              </a:rPr>
              <a:t>, Jaccard</a:t>
            </a:r>
            <a:r>
              <a:rPr sz="2000" dirty="0">
                <a:latin typeface="Helvetica" pitchFamily="2" charset="0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0458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 sz="2000">
                <a:latin typeface="Helvetica" pitchFamily="2" charset="0"/>
              </a:rPr>
              <a:t>• Opcode similarity (Jaccard)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9038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rPr sz="2000">
                <a:latin typeface="Helvetica" pitchFamily="2" charset="0"/>
              </a:rPr>
              <a:t>• Constant similarity (Jaccard)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48348"/>
            <a:ext cx="11064240" cy="1672045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839789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F39"/>
                </a:solidFill>
                <a:latin typeface="Calibri"/>
              </a:defRPr>
            </a:pPr>
            <a:r>
              <a:rPr sz="2000" dirty="0"/>
              <a:t>Ground Truth: DWARF debug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05549"/>
            <a:ext cx="10698480" cy="1164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1A1A2E"/>
                </a:solidFill>
                <a:latin typeface="Calibri"/>
              </a:defRPr>
            </a:pPr>
            <a:r>
              <a:rPr sz="1600" dirty="0">
                <a:latin typeface="Helvetica" pitchFamily="2" charset="0"/>
              </a:rPr>
              <a:t>O0 and O2 binaries both built with DWARF symbols enabled (does not affect optimization).</a:t>
            </a:r>
            <a:br>
              <a:rPr sz="1600" dirty="0">
                <a:latin typeface="Helvetica" pitchFamily="2" charset="0"/>
              </a:rPr>
            </a:br>
            <a:r>
              <a:rPr sz="1600" dirty="0">
                <a:latin typeface="Helvetica" pitchFamily="2" charset="0"/>
              </a:rPr>
              <a:t>Each block is mapped to source lines. Two blocks are "correctly matched" </a:t>
            </a:r>
            <a:r>
              <a:rPr sz="1600" dirty="0" err="1">
                <a:latin typeface="Helvetica" pitchFamily="2" charset="0"/>
              </a:rPr>
              <a:t>iff</a:t>
            </a:r>
            <a:r>
              <a:rPr sz="1600" dirty="0">
                <a:latin typeface="Helvetica" pitchFamily="2" charset="0"/>
              </a:rPr>
              <a:t> they share ≥1 source line.</a:t>
            </a:r>
            <a:br>
              <a:rPr sz="1600" dirty="0">
                <a:latin typeface="Helvetica" pitchFamily="2" charset="0"/>
              </a:rPr>
            </a:br>
            <a:r>
              <a:rPr sz="1600" dirty="0">
                <a:latin typeface="Helvetica" pitchFamily="2" charset="0"/>
              </a:rPr>
              <a:t>Accuracy = correct pairs / total pairs (Hungarian algorithm, one-to-one).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rPr dirty="0"/>
              <a:t>How It Works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9CD698C-60EA-EFAB-279F-EF2E7701E22D}"/>
              </a:ext>
            </a:extLst>
          </p:cNvPr>
          <p:cNvGrpSpPr/>
          <p:nvPr/>
        </p:nvGrpSpPr>
        <p:grpSpPr>
          <a:xfrm>
            <a:off x="705392" y="2076994"/>
            <a:ext cx="10698480" cy="914400"/>
            <a:chOff x="457200" y="2521129"/>
            <a:chExt cx="1069848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2521129"/>
              <a:ext cx="1554480" cy="914400"/>
            </a:xfrm>
            <a:prstGeom prst="round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25400" rtlCol="0" anchor="ctr"/>
            <a:lstStyle/>
            <a:p>
              <a:pPr algn="ctr">
                <a:defRPr sz="1400">
                  <a:solidFill>
                    <a:srgbClr val="FFFFFF"/>
                  </a:solidFill>
                  <a:latin typeface="Calibri"/>
                </a:defRPr>
              </a:pPr>
              <a:r>
                <a:rPr sz="1600" dirty="0">
                  <a:latin typeface="Helvetica" pitchFamily="2" charset="0"/>
                </a:rPr>
                <a:t>Source</a:t>
              </a:r>
              <a:br>
                <a:rPr sz="1600" dirty="0">
                  <a:latin typeface="Helvetica" pitchFamily="2" charset="0"/>
                </a:rPr>
              </a:br>
              <a:r>
                <a:rPr sz="1600" dirty="0">
                  <a:latin typeface="Helvetica" pitchFamily="2" charset="0"/>
                </a:rPr>
                <a:t>Code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024018" y="2775851"/>
              <a:ext cx="274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0">
                  <a:solidFill>
                    <a:srgbClr val="656D76"/>
                  </a:solidFill>
                  <a:latin typeface="Calibri"/>
                </a:defRPr>
              </a:pPr>
              <a:r>
                <a:rPr sz="2000" dirty="0">
                  <a:latin typeface="Helvetica" pitchFamily="2" charset="0"/>
                </a:rPr>
                <a:t>→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0" y="2521129"/>
              <a:ext cx="1554480" cy="914400"/>
            </a:xfrm>
            <a:prstGeom prst="roundRect">
              <a:avLst/>
            </a:prstGeom>
            <a:solidFill>
              <a:srgbClr val="1A6B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25400" rtlCol="0" anchor="ctr"/>
            <a:lstStyle/>
            <a:p>
              <a:pPr algn="ctr">
                <a:defRPr sz="1400">
                  <a:solidFill>
                    <a:srgbClr val="FFFFFF"/>
                  </a:solidFill>
                  <a:latin typeface="Calibri"/>
                </a:defRPr>
              </a:pPr>
              <a:r>
                <a:rPr sz="1600">
                  <a:latin typeface="Helvetica" pitchFamily="2" charset="0"/>
                </a:rPr>
                <a:t>Compile</a:t>
              </a:r>
              <a:br>
                <a:rPr sz="1600">
                  <a:latin typeface="Helvetica" pitchFamily="2" charset="0"/>
                </a:rPr>
              </a:br>
              <a:r>
                <a:rPr sz="1600">
                  <a:latin typeface="Helvetica" pitchFamily="2" charset="0"/>
                </a:rPr>
                <a:t>O0 &amp; O2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852818" y="2775851"/>
              <a:ext cx="274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0">
                  <a:solidFill>
                    <a:srgbClr val="656D76"/>
                  </a:solidFill>
                  <a:latin typeface="Calibri"/>
                </a:defRPr>
              </a:pPr>
              <a:r>
                <a:rPr sz="2000" dirty="0">
                  <a:latin typeface="Helvetica" pitchFamily="2" charset="0"/>
                </a:rPr>
                <a:t>→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114800" y="2521129"/>
              <a:ext cx="1554480" cy="914400"/>
            </a:xfrm>
            <a:prstGeom prst="roundRect">
              <a:avLst/>
            </a:prstGeom>
            <a:solidFill>
              <a:srgbClr val="0E5A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25400" rtlCol="0" anchor="ctr"/>
            <a:lstStyle/>
            <a:p>
              <a:pPr algn="ctr">
                <a:defRPr sz="1400">
                  <a:solidFill>
                    <a:srgbClr val="FFFFFF"/>
                  </a:solidFill>
                  <a:latin typeface="Calibri"/>
                </a:defRPr>
              </a:pPr>
              <a:r>
                <a:rPr sz="1600">
                  <a:latin typeface="Helvetica" pitchFamily="2" charset="0"/>
                </a:rPr>
                <a:t>Extract</a:t>
              </a:r>
              <a:br>
                <a:rPr sz="1600">
                  <a:latin typeface="Helvetica" pitchFamily="2" charset="0"/>
                </a:rPr>
              </a:br>
              <a:r>
                <a:rPr sz="1600">
                  <a:latin typeface="Helvetica" pitchFamily="2" charset="0"/>
                </a:rPr>
                <a:t>Blocks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81618" y="2775851"/>
              <a:ext cx="274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0">
                  <a:solidFill>
                    <a:srgbClr val="656D76"/>
                  </a:solidFill>
                  <a:latin typeface="Calibri"/>
                </a:defRPr>
              </a:pPr>
              <a:r>
                <a:rPr sz="2000">
                  <a:latin typeface="Helvetica" pitchFamily="2" charset="0"/>
                </a:rPr>
                <a:t>→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943600" y="2521129"/>
              <a:ext cx="1554480" cy="914400"/>
            </a:xfrm>
            <a:prstGeom prst="roundRect">
              <a:avLst/>
            </a:prstGeom>
            <a:solidFill>
              <a:srgbClr val="167F3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25400" rtlCol="0" anchor="ctr"/>
            <a:lstStyle/>
            <a:p>
              <a:pPr algn="ctr">
                <a:defRPr sz="1400">
                  <a:solidFill>
                    <a:srgbClr val="FFFFFF"/>
                  </a:solidFill>
                  <a:latin typeface="Calibri"/>
                </a:defRPr>
              </a:pPr>
              <a:r>
                <a:rPr sz="1600">
                  <a:latin typeface="Helvetica" pitchFamily="2" charset="0"/>
                </a:rPr>
                <a:t>Compute</a:t>
              </a:r>
              <a:br>
                <a:rPr sz="1600">
                  <a:latin typeface="Helvetica" pitchFamily="2" charset="0"/>
                </a:rPr>
              </a:br>
              <a:r>
                <a:rPr sz="1600">
                  <a:latin typeface="Helvetica" pitchFamily="2" charset="0"/>
                </a:rPr>
                <a:t>Features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510418" y="2775851"/>
              <a:ext cx="274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0">
                  <a:solidFill>
                    <a:srgbClr val="656D76"/>
                  </a:solidFill>
                  <a:latin typeface="Calibri"/>
                </a:defRPr>
              </a:pPr>
              <a:r>
                <a:rPr sz="2000">
                  <a:latin typeface="Helvetica" pitchFamily="2" charset="0"/>
                </a:rPr>
                <a:t>→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72400" y="2521129"/>
              <a:ext cx="1554480" cy="914400"/>
            </a:xfrm>
            <a:prstGeom prst="roundRect">
              <a:avLst/>
            </a:prstGeom>
            <a:solidFill>
              <a:srgbClr val="B47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25400" rtlCol="0" anchor="ctr"/>
            <a:lstStyle/>
            <a:p>
              <a:pPr algn="ctr">
                <a:defRPr sz="1400">
                  <a:solidFill>
                    <a:srgbClr val="FFFFFF"/>
                  </a:solidFill>
                  <a:latin typeface="Calibri"/>
                </a:defRPr>
              </a:pPr>
              <a:r>
                <a:rPr sz="1600">
                  <a:latin typeface="Helvetica" pitchFamily="2" charset="0"/>
                </a:rPr>
                <a:t>Hungarian</a:t>
              </a:r>
              <a:br>
                <a:rPr sz="1600">
                  <a:latin typeface="Helvetica" pitchFamily="2" charset="0"/>
                </a:rPr>
              </a:br>
              <a:r>
                <a:rPr sz="1600">
                  <a:latin typeface="Helvetica" pitchFamily="2" charset="0"/>
                </a:rPr>
                <a:t>Matching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339218" y="2775851"/>
              <a:ext cx="2743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800" b="0">
                  <a:solidFill>
                    <a:srgbClr val="656D76"/>
                  </a:solidFill>
                  <a:latin typeface="Calibri"/>
                </a:defRPr>
              </a:pPr>
              <a:r>
                <a:rPr sz="2000">
                  <a:latin typeface="Helvetica" pitchFamily="2" charset="0"/>
                </a:rPr>
                <a:t>→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601200" y="2521129"/>
              <a:ext cx="1554480" cy="914400"/>
            </a:xfrm>
            <a:prstGeom prst="roundRect">
              <a:avLst/>
            </a:prstGeom>
            <a:solidFill>
              <a:srgbClr val="C434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25400" rtlCol="0" anchor="ctr"/>
            <a:lstStyle/>
            <a:p>
              <a:pPr algn="ctr">
                <a:defRPr sz="1400">
                  <a:solidFill>
                    <a:srgbClr val="FFFFFF"/>
                  </a:solidFill>
                  <a:latin typeface="Calibri"/>
                </a:defRPr>
              </a:pPr>
              <a:r>
                <a:rPr sz="1600">
                  <a:latin typeface="Helvetica" pitchFamily="2" charset="0"/>
                </a:rPr>
                <a:t>DWARF</a:t>
              </a:r>
              <a:br>
                <a:rPr sz="1600">
                  <a:latin typeface="Helvetica" pitchFamily="2" charset="0"/>
                </a:rPr>
              </a:br>
              <a:r>
                <a:rPr sz="1600">
                  <a:latin typeface="Helvetica" pitchFamily="2" charset="0"/>
                </a:rPr>
                <a:t>Validation</a:t>
              </a:r>
            </a:p>
          </p:txBody>
        </p: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98DABC4-98E8-B4FE-6E7A-3D462A738597}"/>
              </a:ext>
            </a:extLst>
          </p:cNvPr>
          <p:cNvSpPr/>
          <p:nvPr/>
        </p:nvSpPr>
        <p:spPr>
          <a:xfrm>
            <a:off x="2521495" y="3805291"/>
            <a:ext cx="7149010" cy="2104808"/>
          </a:xfrm>
          <a:prstGeom prst="roundRect">
            <a:avLst>
              <a:gd name="adj" fmla="val 8742"/>
            </a:avLst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167F39"/>
                </a:solidFill>
                <a:latin typeface="Calibri"/>
              </a:defRPr>
            </a:pPr>
            <a:r>
              <a:rPr sz="2800" dirty="0"/>
              <a:t>Extracted Features</a:t>
            </a:r>
          </a:p>
          <a:p>
            <a:pPr>
              <a:defRPr sz="1200">
                <a:solidFill>
                  <a:srgbClr val="24292E"/>
                </a:solidFill>
                <a:latin typeface="Consolas"/>
              </a:defRPr>
            </a:pPr>
            <a:r>
              <a:rPr sz="2000" dirty="0"/>
              <a:t>Opcodes:    {</a:t>
            </a:r>
            <a:r>
              <a:rPr sz="2000" dirty="0" err="1"/>
              <a:t>cmp</a:t>
            </a:r>
            <a:r>
              <a:rPr sz="2000" dirty="0"/>
              <a:t>, </a:t>
            </a:r>
            <a:r>
              <a:rPr sz="2000" dirty="0" err="1"/>
              <a:t>jb</a:t>
            </a:r>
            <a:r>
              <a:rPr sz="2000" dirty="0"/>
              <a:t>, mov}</a:t>
            </a:r>
            <a:br>
              <a:rPr sz="2000" dirty="0"/>
            </a:br>
            <a:r>
              <a:rPr sz="2000" dirty="0"/>
              <a:t>Constants:  {</a:t>
            </a:r>
            <a:r>
              <a:rPr lang="en-US" sz="2000" dirty="0"/>
              <a:t>0xdeadbeef, 1, 0x10, “Hello World”</a:t>
            </a:r>
            <a:r>
              <a:rPr sz="2000" dirty="0"/>
              <a:t>}</a:t>
            </a:r>
            <a:br>
              <a:rPr sz="2000" dirty="0"/>
            </a:br>
            <a:r>
              <a:rPr sz="2000" dirty="0"/>
              <a:t>Value-based: register outputs + memory</a:t>
            </a:r>
            <a:r>
              <a:rPr lang="en-US" sz="2000" dirty="0"/>
              <a:t> </a:t>
            </a:r>
            <a:r>
              <a:rPr sz="2000" dirty="0"/>
              <a:t>acces</a:t>
            </a:r>
            <a:r>
              <a:rPr lang="en-US" sz="2000" dirty="0"/>
              <a:t>sed values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Example: Bounds Checking (bc_08)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908" y="1195256"/>
            <a:ext cx="6394269" cy="2468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rPr sz="2000" dirty="0"/>
              <a:t>Rust source — every data[x] inserts a bounds check (index &lt; </a:t>
            </a:r>
            <a:r>
              <a:rPr sz="2000" dirty="0" err="1"/>
              <a:t>len</a:t>
            </a:r>
            <a:r>
              <a:rPr sz="2000" dirty="0"/>
              <a:t>)</a:t>
            </a:r>
          </a:p>
          <a:p>
            <a:pPr>
              <a:defRPr sz="1000">
                <a:solidFill>
                  <a:srgbClr val="24292E"/>
                </a:solidFill>
                <a:latin typeface="Consolas"/>
              </a:defRPr>
            </a:pPr>
            <a:r>
              <a:rPr sz="1200" dirty="0"/>
              <a:t>for </a:t>
            </a:r>
            <a:r>
              <a:rPr sz="1200" dirty="0" err="1"/>
              <a:t>i</a:t>
            </a:r>
            <a:r>
              <a:rPr sz="1200" dirty="0"/>
              <a:t> in 1..n-1 {</a:t>
            </a:r>
            <a:br>
              <a:rPr sz="1200" dirty="0"/>
            </a:br>
            <a:r>
              <a:rPr sz="1200" dirty="0"/>
              <a:t>    if data[</a:t>
            </a:r>
            <a:r>
              <a:rPr sz="1200" dirty="0" err="1"/>
              <a:t>i</a:t>
            </a:r>
            <a:r>
              <a:rPr sz="1200" dirty="0"/>
              <a:t>] &gt; data[i-1]     // data[</a:t>
            </a:r>
            <a:r>
              <a:rPr sz="1200" dirty="0" err="1"/>
              <a:t>i</a:t>
            </a:r>
            <a:r>
              <a:rPr sz="1200" dirty="0"/>
              <a:t>]: </a:t>
            </a:r>
            <a:r>
              <a:rPr sz="1200" dirty="0" err="1"/>
              <a:t>cmp</a:t>
            </a:r>
            <a:r>
              <a:rPr sz="1200" dirty="0"/>
              <a:t> </a:t>
            </a:r>
            <a:r>
              <a:rPr sz="1200" dirty="0" err="1"/>
              <a:t>i,len</a:t>
            </a:r>
            <a:r>
              <a:rPr sz="1200" dirty="0"/>
              <a:t>; jae panic</a:t>
            </a:r>
            <a:br>
              <a:rPr sz="1200" dirty="0"/>
            </a:br>
            <a:r>
              <a:rPr sz="1200" dirty="0"/>
              <a:t>    &amp;&amp; data[</a:t>
            </a:r>
            <a:r>
              <a:rPr sz="1200" dirty="0" err="1"/>
              <a:t>i</a:t>
            </a:r>
            <a:r>
              <a:rPr sz="1200" dirty="0"/>
              <a:t>] &gt; data[i+1] {   // data[i-1]: </a:t>
            </a:r>
            <a:r>
              <a:rPr sz="1200" dirty="0" err="1"/>
              <a:t>cmp</a:t>
            </a:r>
            <a:r>
              <a:rPr sz="1200" dirty="0"/>
              <a:t> (i-1),</a:t>
            </a:r>
            <a:r>
              <a:rPr sz="1200" dirty="0" err="1"/>
              <a:t>len</a:t>
            </a:r>
            <a:r>
              <a:rPr sz="1200" dirty="0"/>
              <a:t>; jae panic</a:t>
            </a:r>
            <a:br>
              <a:rPr sz="1200" dirty="0"/>
            </a:br>
            <a:r>
              <a:rPr sz="1200" dirty="0"/>
              <a:t>        let mut </a:t>
            </a:r>
            <a:r>
              <a:rPr sz="1200" dirty="0" err="1"/>
              <a:t>lmin</a:t>
            </a:r>
            <a:r>
              <a:rPr sz="1200" dirty="0"/>
              <a:t> = data[</a:t>
            </a:r>
            <a:r>
              <a:rPr sz="1200" dirty="0" err="1"/>
              <a:t>i</a:t>
            </a:r>
            <a:r>
              <a:rPr sz="1200" dirty="0"/>
              <a:t>]; // data[i+1]: </a:t>
            </a:r>
            <a:r>
              <a:rPr sz="1200" dirty="0" err="1"/>
              <a:t>cmp</a:t>
            </a:r>
            <a:r>
              <a:rPr sz="1200" dirty="0"/>
              <a:t> (i+1),</a:t>
            </a:r>
            <a:r>
              <a:rPr sz="1200" dirty="0" err="1"/>
              <a:t>len</a:t>
            </a:r>
            <a:r>
              <a:rPr sz="1200" dirty="0"/>
              <a:t>; jae panic</a:t>
            </a:r>
            <a:br>
              <a:rPr sz="1200" dirty="0"/>
            </a:br>
            <a:r>
              <a:rPr sz="1200" dirty="0"/>
              <a:t>// Each data[x] → compiler inserts: load index, load </a:t>
            </a:r>
            <a:r>
              <a:rPr sz="1200" dirty="0" err="1"/>
              <a:t>len</a:t>
            </a:r>
            <a:r>
              <a:rPr sz="1200" dirty="0"/>
              <a:t>,</a:t>
            </a:r>
            <a:br>
              <a:rPr sz="1200" dirty="0"/>
            </a:br>
            <a:r>
              <a:rPr sz="1200" dirty="0"/>
              <a:t>//   </a:t>
            </a:r>
            <a:r>
              <a:rPr sz="1200" dirty="0" err="1"/>
              <a:t>cmp</a:t>
            </a:r>
            <a:r>
              <a:rPr sz="1200" dirty="0"/>
              <a:t> </a:t>
            </a:r>
            <a:r>
              <a:rPr sz="1200" dirty="0" err="1"/>
              <a:t>index,len</a:t>
            </a:r>
            <a:r>
              <a:rPr sz="1200" dirty="0"/>
              <a:t>; jae </a:t>
            </a:r>
            <a:r>
              <a:rPr sz="1200" dirty="0" err="1"/>
              <a:t>panic_handler</a:t>
            </a:r>
            <a:r>
              <a:rPr sz="1200" dirty="0"/>
              <a:t>. Success → access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06194" y="723681"/>
            <a:ext cx="4572000" cy="133502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rPr sz="2000" dirty="0"/>
              <a:t>← data[</a:t>
            </a:r>
            <a:r>
              <a:rPr sz="2000" dirty="0" err="1"/>
              <a:t>i</a:t>
            </a:r>
            <a:r>
              <a:rPr sz="2000" dirty="0"/>
              <a:t>] access: </a:t>
            </a:r>
            <a:r>
              <a:rPr sz="2000" dirty="0" err="1"/>
              <a:t>cmp</a:t>
            </a:r>
            <a:r>
              <a:rPr sz="2000" dirty="0"/>
              <a:t> index, </a:t>
            </a:r>
            <a:r>
              <a:rPr sz="2000" dirty="0" err="1"/>
              <a:t>len</a:t>
            </a:r>
            <a:endParaRPr sz="2000" dirty="0"/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rPr sz="1200" dirty="0"/>
              <a:t>mov      </a:t>
            </a:r>
            <a:r>
              <a:rPr sz="1200" dirty="0" err="1"/>
              <a:t>rax</a:t>
            </a:r>
            <a:r>
              <a:rPr sz="1200" dirty="0"/>
              <a:t>, qword </a:t>
            </a:r>
            <a:r>
              <a:rPr sz="1200" dirty="0" err="1"/>
              <a:t>ptr</a:t>
            </a:r>
            <a:r>
              <a:rPr sz="1200" dirty="0"/>
              <a:t> [</a:t>
            </a:r>
            <a:r>
              <a:rPr sz="1200" dirty="0" err="1"/>
              <a:t>rsp</a:t>
            </a:r>
            <a:r>
              <a:rPr sz="1200" dirty="0"/>
              <a:t> + 0x68]</a:t>
            </a:r>
            <a:br>
              <a:rPr sz="1200" dirty="0"/>
            </a:br>
            <a:r>
              <a:rPr sz="1200" dirty="0"/>
              <a:t>mov      </a:t>
            </a:r>
            <a:r>
              <a:rPr sz="1200" dirty="0" err="1"/>
              <a:t>rcx</a:t>
            </a:r>
            <a:r>
              <a:rPr sz="1200" dirty="0"/>
              <a:t>, qword </a:t>
            </a:r>
            <a:r>
              <a:rPr sz="1200" dirty="0" err="1"/>
              <a:t>ptr</a:t>
            </a:r>
            <a:r>
              <a:rPr sz="1200" dirty="0"/>
              <a:t> [</a:t>
            </a:r>
            <a:r>
              <a:rPr sz="1200" dirty="0" err="1"/>
              <a:t>rsp</a:t>
            </a:r>
            <a:r>
              <a:rPr sz="1200" dirty="0"/>
              <a:t> + 0xa8]</a:t>
            </a:r>
            <a:br>
              <a:rPr sz="1200" dirty="0"/>
            </a:br>
            <a:r>
              <a:rPr sz="1200" dirty="0" err="1"/>
              <a:t>cmp</a:t>
            </a:r>
            <a:r>
              <a:rPr sz="1200" dirty="0"/>
              <a:t>      </a:t>
            </a:r>
            <a:r>
              <a:rPr sz="1200" dirty="0" err="1"/>
              <a:t>rax</a:t>
            </a:r>
            <a:r>
              <a:rPr sz="1200" dirty="0"/>
              <a:t>, </a:t>
            </a:r>
            <a:r>
              <a:rPr sz="1200" dirty="0" err="1"/>
              <a:t>rcx</a:t>
            </a:r>
            <a:br>
              <a:rPr sz="1200" dirty="0"/>
            </a:br>
            <a:r>
              <a:rPr sz="1200" dirty="0" err="1"/>
              <a:t>jb</a:t>
            </a:r>
            <a:r>
              <a:rPr sz="1200" dirty="0"/>
              <a:t>       0x46f0ae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06194" y="2199784"/>
            <a:ext cx="4572000" cy="1335023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rPr sz="2000" dirty="0"/>
              <a:t>← data[i-1] access: </a:t>
            </a:r>
            <a:r>
              <a:rPr sz="2000" dirty="0" err="1"/>
              <a:t>cmp</a:t>
            </a:r>
            <a:r>
              <a:rPr sz="2000" dirty="0"/>
              <a:t> index, </a:t>
            </a:r>
            <a:r>
              <a:rPr sz="2000" dirty="0" err="1"/>
              <a:t>len</a:t>
            </a:r>
            <a:endParaRPr sz="2000" dirty="0"/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rPr sz="1200" dirty="0"/>
              <a:t>mov      </a:t>
            </a:r>
            <a:r>
              <a:rPr sz="1200" dirty="0" err="1"/>
              <a:t>rax</a:t>
            </a:r>
            <a:r>
              <a:rPr sz="1200" dirty="0"/>
              <a:t>, qword </a:t>
            </a:r>
            <a:r>
              <a:rPr sz="1200" dirty="0" err="1"/>
              <a:t>ptr</a:t>
            </a:r>
            <a:r>
              <a:rPr sz="1200" dirty="0"/>
              <a:t> [</a:t>
            </a:r>
            <a:r>
              <a:rPr sz="1200" dirty="0" err="1"/>
              <a:t>rsp</a:t>
            </a:r>
            <a:r>
              <a:rPr sz="1200" dirty="0"/>
              <a:t> + 0x70]</a:t>
            </a:r>
            <a:br>
              <a:rPr sz="1200" dirty="0"/>
            </a:br>
            <a:r>
              <a:rPr sz="1200" dirty="0"/>
              <a:t>mov      </a:t>
            </a:r>
            <a:r>
              <a:rPr sz="1200" dirty="0" err="1"/>
              <a:t>rcx</a:t>
            </a:r>
            <a:r>
              <a:rPr sz="1200" dirty="0"/>
              <a:t>, qword </a:t>
            </a:r>
            <a:r>
              <a:rPr sz="1200" dirty="0" err="1"/>
              <a:t>ptr</a:t>
            </a:r>
            <a:r>
              <a:rPr sz="1200" dirty="0"/>
              <a:t> [</a:t>
            </a:r>
            <a:r>
              <a:rPr sz="1200" dirty="0" err="1"/>
              <a:t>rsp</a:t>
            </a:r>
            <a:r>
              <a:rPr sz="1200" dirty="0"/>
              <a:t> + 0xa8]</a:t>
            </a:r>
            <a:br>
              <a:rPr sz="1200" dirty="0"/>
            </a:br>
            <a:r>
              <a:rPr sz="1200" dirty="0" err="1"/>
              <a:t>cmp</a:t>
            </a:r>
            <a:r>
              <a:rPr sz="1200" dirty="0"/>
              <a:t>      </a:t>
            </a:r>
            <a:r>
              <a:rPr sz="1200" dirty="0" err="1"/>
              <a:t>rax</a:t>
            </a:r>
            <a:r>
              <a:rPr sz="1200" dirty="0"/>
              <a:t>, </a:t>
            </a:r>
            <a:r>
              <a:rPr sz="1200" dirty="0" err="1"/>
              <a:t>rcx</a:t>
            </a:r>
            <a:br>
              <a:rPr sz="1200" dirty="0"/>
            </a:br>
            <a:r>
              <a:rPr sz="1200" dirty="0"/>
              <a:t>jae      0x46f128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7886" y="3678356"/>
            <a:ext cx="4572000" cy="133502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4343B"/>
                </a:solidFill>
                <a:latin typeface="Calibri"/>
              </a:defRPr>
            </a:pPr>
            <a:r>
              <a:rPr sz="2000" dirty="0"/>
              <a:t>← data[i+1] access: </a:t>
            </a:r>
            <a:r>
              <a:rPr sz="2000" dirty="0" err="1"/>
              <a:t>cmp</a:t>
            </a:r>
            <a:r>
              <a:rPr sz="2000" dirty="0"/>
              <a:t> index, </a:t>
            </a:r>
            <a:r>
              <a:rPr sz="2000" dirty="0" err="1"/>
              <a:t>len</a:t>
            </a:r>
            <a:endParaRPr sz="2000" dirty="0"/>
          </a:p>
          <a:p>
            <a:pPr>
              <a:defRPr sz="900">
                <a:solidFill>
                  <a:srgbClr val="24292E"/>
                </a:solidFill>
                <a:latin typeface="Consolas"/>
              </a:defRPr>
            </a:pPr>
            <a:r>
              <a:rPr sz="1200" dirty="0"/>
              <a:t>mov      </a:t>
            </a:r>
            <a:r>
              <a:rPr sz="1200" dirty="0" err="1"/>
              <a:t>rax</a:t>
            </a:r>
            <a:r>
              <a:rPr sz="1200" dirty="0"/>
              <a:t>, qword </a:t>
            </a:r>
            <a:r>
              <a:rPr sz="1200" dirty="0" err="1"/>
              <a:t>ptr</a:t>
            </a:r>
            <a:r>
              <a:rPr sz="1200" dirty="0"/>
              <a:t> [</a:t>
            </a:r>
            <a:r>
              <a:rPr sz="1200" dirty="0" err="1"/>
              <a:t>rsp</a:t>
            </a:r>
            <a:r>
              <a:rPr sz="1200" dirty="0"/>
              <a:t> + 0x58]</a:t>
            </a:r>
            <a:br>
              <a:rPr sz="1200" dirty="0"/>
            </a:br>
            <a:r>
              <a:rPr sz="1200" dirty="0"/>
              <a:t>mov      </a:t>
            </a:r>
            <a:r>
              <a:rPr sz="1200" dirty="0" err="1"/>
              <a:t>rcx</a:t>
            </a:r>
            <a:r>
              <a:rPr sz="1200" dirty="0"/>
              <a:t>, qword </a:t>
            </a:r>
            <a:r>
              <a:rPr sz="1200" dirty="0" err="1"/>
              <a:t>ptr</a:t>
            </a:r>
            <a:r>
              <a:rPr sz="1200" dirty="0"/>
              <a:t> [</a:t>
            </a:r>
            <a:r>
              <a:rPr sz="1200" dirty="0" err="1"/>
              <a:t>rsp</a:t>
            </a:r>
            <a:r>
              <a:rPr sz="1200" dirty="0"/>
              <a:t> + 0xa8]</a:t>
            </a:r>
            <a:br>
              <a:rPr sz="1200" dirty="0"/>
            </a:br>
            <a:r>
              <a:rPr sz="1200" dirty="0" err="1"/>
              <a:t>cmp</a:t>
            </a:r>
            <a:r>
              <a:rPr sz="1200" dirty="0"/>
              <a:t>      </a:t>
            </a:r>
            <a:r>
              <a:rPr sz="1200" dirty="0" err="1"/>
              <a:t>rax</a:t>
            </a:r>
            <a:r>
              <a:rPr sz="1200" dirty="0"/>
              <a:t>, </a:t>
            </a:r>
            <a:r>
              <a:rPr sz="1200" dirty="0" err="1"/>
              <a:t>rcx</a:t>
            </a:r>
            <a:br>
              <a:rPr sz="1200" dirty="0"/>
            </a:br>
            <a:r>
              <a:rPr sz="1200" dirty="0" err="1"/>
              <a:t>jb</a:t>
            </a:r>
            <a:r>
              <a:rPr sz="1200" dirty="0"/>
              <a:t>       0x46f173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2126" y="5129636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F222E"/>
                </a:solidFill>
                <a:latin typeface="Calibri"/>
              </a:defRPr>
            </a:pPr>
            <a:r>
              <a:rPr dirty="0"/>
              <a:t>↑ All 9 blocks: identical opcodes {</a:t>
            </a:r>
            <a:r>
              <a:rPr dirty="0" err="1"/>
              <a:t>cmp</a:t>
            </a:r>
            <a:r>
              <a:rPr dirty="0"/>
              <a:t>, </a:t>
            </a:r>
            <a:r>
              <a:rPr dirty="0" err="1"/>
              <a:t>jcc</a:t>
            </a:r>
            <a:r>
              <a:rPr dirty="0"/>
              <a:t>, mov} → 100% Jaccard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354" y="3849545"/>
            <a:ext cx="6312823" cy="133502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0E5AAB"/>
                </a:solidFill>
                <a:latin typeface="Calibri"/>
              </a:defRPr>
            </a:pPr>
            <a:r>
              <a:rPr sz="2000" dirty="0">
                <a:latin typeface="Helvetica" pitchFamily="2" charset="0"/>
              </a:rPr>
              <a:t>C source — raw pointer, no checks</a:t>
            </a:r>
          </a:p>
          <a:p>
            <a:pPr>
              <a:defRPr sz="1000">
                <a:solidFill>
                  <a:srgbClr val="24292E"/>
                </a:solidFill>
                <a:latin typeface="Consolas"/>
              </a:defRPr>
            </a:pP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 = 1; i+1 &lt; n; </a:t>
            </a:r>
            <a:r>
              <a:rPr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  <a:b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    if (data[</a:t>
            </a:r>
            <a:r>
              <a:rPr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] &gt; data[i-1]</a:t>
            </a:r>
            <a:b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     &amp;&amp; data[</a:t>
            </a:r>
            <a:r>
              <a:rPr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] &gt; data[i+1]) {</a:t>
            </a:r>
            <a:b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uint64_t </a:t>
            </a:r>
            <a:r>
              <a:rPr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lmin</a:t>
            </a: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 = data[</a:t>
            </a:r>
            <a:r>
              <a:rPr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sz="12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65068" y="5742435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rPr sz="1600" dirty="0">
                <a:latin typeface="Helvetica" pitchFamily="2" charset="0"/>
              </a:rPr>
              <a:t>Value: R 11% | C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6537" y="5742435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rPr sz="1600" dirty="0">
                <a:latin typeface="Helvetica" pitchFamily="2" charset="0"/>
              </a:rPr>
              <a:t>Opcodes: R 32% | C 42%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8006" y="5742435"/>
            <a:ext cx="265176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200">
                <a:solidFill>
                  <a:srgbClr val="1A1A2E"/>
                </a:solidFill>
                <a:latin typeface="Calibri"/>
              </a:defRPr>
            </a:pPr>
            <a:r>
              <a:rPr sz="1600" dirty="0">
                <a:latin typeface="Helvetica" pitchFamily="2" charset="0"/>
              </a:rPr>
              <a:t>Constants: R 11% | C 25%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F3EF71E-30F7-749D-A193-4D83CE009045}"/>
                  </a:ext>
                </a:extLst>
              </p14:cNvPr>
              <p14:cNvContentPartPr/>
              <p14:nvPr/>
            </p14:nvContentPartPr>
            <p14:xfrm>
              <a:off x="15552617" y="4162989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F3EF71E-30F7-749D-A193-4D83CE0090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46497" y="415686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rPr dirty="0"/>
              <a:t>Results: C Wins Across All Features and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068" y="2410092"/>
            <a:ext cx="253492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rPr sz="1400" dirty="0"/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337" y="2410092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rPr sz="1400" dirty="0"/>
              <a:t>Value</a:t>
            </a:r>
            <a:br>
              <a:rPr sz="1400" dirty="0"/>
            </a:br>
            <a:r>
              <a:rPr sz="1400" dirty="0"/>
              <a:t>R /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7017" y="2410092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rPr sz="1400" dirty="0"/>
              <a:t>Opcodes</a:t>
            </a:r>
            <a:br>
              <a:rPr sz="1400" dirty="0"/>
            </a:br>
            <a:r>
              <a:rPr sz="1400" dirty="0"/>
              <a:t>R /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8697" y="2410092"/>
            <a:ext cx="1986280" cy="365760"/>
          </a:xfrm>
          <a:prstGeom prst="round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200">
                <a:solidFill>
                  <a:srgbClr val="1A6BD4"/>
                </a:solidFill>
                <a:latin typeface="Calibri"/>
              </a:defRPr>
            </a:pPr>
            <a:r>
              <a:rPr sz="1400" dirty="0"/>
              <a:t>Constants</a:t>
            </a:r>
            <a:br>
              <a:rPr sz="1400" dirty="0"/>
            </a:br>
            <a:r>
              <a:rPr sz="1400" dirty="0"/>
              <a:t>R /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068" y="2801252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Bounds Checking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5337" y="2801252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10%  /  46%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7017" y="2801252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24%  /  58%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8697" y="2801252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10%  /  62%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068" y="3178629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Drop Glue / RAII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5337" y="317862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4%  /  44%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7017" y="317862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5%  /  51%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8697" y="317862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5%  /  59%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068" y="3569789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? Operator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5337" y="356978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10%  /  50%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7017" y="356978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22%  /  50%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8697" y="356978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12%  /  39%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068" y="3960949"/>
            <a:ext cx="253492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 dirty="0"/>
              <a:t>Panic Paths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5337" y="396094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10%  /  59%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7017" y="396094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21%  /  74%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98697" y="3960949"/>
            <a:ext cx="198628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25400" rtlCol="0" anchor="ctr"/>
          <a:lstStyle/>
          <a:p>
            <a:pPr algn="ctr">
              <a:defRPr sz="1300">
                <a:solidFill>
                  <a:srgbClr val="1A1A2E"/>
                </a:solidFill>
                <a:latin typeface="Calibri"/>
              </a:defRPr>
            </a:pPr>
            <a:r>
              <a:rPr sz="1400"/>
              <a:t>14%  /  90%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6BD4"/>
                </a:solidFill>
                <a:latin typeface="Calibri"/>
              </a:defRPr>
            </a:pPr>
            <a: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4343B"/>
                </a:solidFill>
                <a:latin typeface="Calibri"/>
              </a:defRPr>
            </a:pPr>
            <a:r>
              <a:rPr sz="2400" dirty="0">
                <a:latin typeface="Helvetica" pitchFamily="2" charset="0"/>
              </a:rPr>
              <a:t>1. Rust binaries are harder to match than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47A00"/>
                </a:solidFill>
                <a:latin typeface="Calibri"/>
              </a:defRPr>
            </a:pPr>
            <a:r>
              <a:rPr sz="2400" dirty="0">
                <a:latin typeface="Helvetica" pitchFamily="2" charset="0"/>
              </a:rPr>
              <a:t>2. Root cause: safety blocks are too similar to each other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67F39"/>
                </a:solidFill>
                <a:latin typeface="Calibri"/>
              </a:defRPr>
            </a:pPr>
            <a:r>
              <a:rPr lang="en-US" altLang="zh-CN" sz="2400" dirty="0">
                <a:latin typeface="Helvetica" pitchFamily="2" charset="0"/>
              </a:rPr>
              <a:t>3</a:t>
            </a:r>
            <a:r>
              <a:rPr sz="2400" dirty="0">
                <a:latin typeface="Helvetica" pitchFamily="2" charset="0"/>
              </a:rPr>
              <a:t>. Opcode Jaccard is the most robust feature, but still 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6BD4"/>
                </a:solidFill>
                <a:latin typeface="Calibri"/>
              </a:defRPr>
            </a:pPr>
            <a:r>
              <a:rPr lang="en-US" altLang="zh-CN" sz="2400" dirty="0">
                <a:latin typeface="Helvetica" pitchFamily="2" charset="0"/>
              </a:rPr>
              <a:t>4</a:t>
            </a:r>
            <a:r>
              <a:rPr sz="2400" dirty="0">
                <a:latin typeface="Helvetica" pitchFamily="2" charset="0"/>
              </a:rPr>
              <a:t>. Possible direction: Rust-aware pre-filtering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2D03-459B-9C89-5145-D78B8009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B7658-644F-F7C0-6EC6-01DC319B3C0E}"/>
              </a:ext>
            </a:extLst>
          </p:cNvPr>
          <p:cNvSpPr txBox="1"/>
          <p:nvPr/>
        </p:nvSpPr>
        <p:spPr>
          <a:xfrm>
            <a:off x="914400" y="2090057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A6BD4"/>
                </a:solidFill>
                <a:latin typeface="Calibri"/>
              </a:defRPr>
            </a:pPr>
            <a:r>
              <a:rPr sz="6000" dirty="0" err="1">
                <a:latin typeface="Helvetica" pitchFamily="2" charset="0"/>
              </a:rPr>
              <a:t>RustDiff</a:t>
            </a:r>
            <a:endParaRPr sz="6000" dirty="0"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EA835-0A7A-437C-8165-FB47270FE398}"/>
              </a:ext>
            </a:extLst>
          </p:cNvPr>
          <p:cNvSpPr txBox="1"/>
          <p:nvPr/>
        </p:nvSpPr>
        <p:spPr>
          <a:xfrm>
            <a:off x="616131" y="3190297"/>
            <a:ext cx="10959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A1A2E"/>
                </a:solidFill>
                <a:latin typeface="Calibri"/>
              </a:defRPr>
            </a:pPr>
            <a:r>
              <a:rPr sz="3200" dirty="0">
                <a:latin typeface="Helvetica" pitchFamily="2" charset="0"/>
              </a:rPr>
              <a:t>How Rust Language Features Affect Binary Block Matching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133E5-6D11-A417-216D-57A640D9008E}"/>
              </a:ext>
            </a:extLst>
          </p:cNvPr>
          <p:cNvSpPr txBox="1"/>
          <p:nvPr/>
        </p:nvSpPr>
        <p:spPr>
          <a:xfrm>
            <a:off x="914400" y="502920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56D76"/>
                </a:solidFill>
                <a:latin typeface="Calibri"/>
              </a:defRPr>
            </a:pPr>
            <a:r>
              <a:rPr lang="en-US" sz="2400" dirty="0"/>
              <a:t>Zhijie Liu &amp; Haotian Luo</a:t>
            </a:r>
            <a:r>
              <a:rPr sz="2400" dirty="0"/>
              <a:t>  •  Spring 2026</a:t>
            </a:r>
          </a:p>
        </p:txBody>
      </p:sp>
    </p:spTree>
    <p:extLst>
      <p:ext uri="{BB962C8B-B14F-4D97-AF65-F5344CB8AC3E}">
        <p14:creationId xmlns:p14="http://schemas.microsoft.com/office/powerpoint/2010/main" val="274551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775</Words>
  <Application>Microsoft Macintosh PowerPoint</Application>
  <PresentationFormat>Widescreen</PresentationFormat>
  <Paragraphs>80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Zhijie</dc:creator>
  <cp:lastModifiedBy>Liu, Zhijie</cp:lastModifiedBy>
  <cp:revision>72</cp:revision>
  <dcterms:created xsi:type="dcterms:W3CDTF">2026-04-22T00:37:39Z</dcterms:created>
  <dcterms:modified xsi:type="dcterms:W3CDTF">2026-04-23T18:08:19Z</dcterms:modified>
</cp:coreProperties>
</file>