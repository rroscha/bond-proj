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FULL SOURCE CODE ===</a:t>
            </a:r>
          </a:p>
          <a:p/>
          <a:p>
            <a:r>
              <a:t>--- Rust: bc_08 (rust_crate/src/main.rs:963-980) ---</a:t>
            </a:r>
          </a:p>
          <a:p>
            <a:r>
              <a:t>fn bc_08(data: &amp;[u64], min_prominence: u64) -&gt; Vec&lt;(usize, u64)&gt; {</a:t>
            </a:r>
          </a:p>
          <a:p>
            <a:r>
              <a:t>    let n = data.len();</a:t>
            </a:r>
          </a:p>
          <a:p>
            <a:r>
              <a:t>    if n &lt; 3 { return vec![]; }</a:t>
            </a:r>
          </a:p>
          <a:p>
            <a:r>
              <a:t>    let mut peaks = Vec::new();</a:t>
            </a:r>
          </a:p>
          <a:p>
            <a:r>
              <a:t>    for i in 1..n - 1 {</a:t>
            </a:r>
          </a:p>
          <a:p>
            <a:r>
              <a:t>        if data[i] &gt; data[i - 1] &amp;&amp; data[i] &gt; data[i + 1] {</a:t>
            </a:r>
          </a:p>
          <a:p>
            <a:r>
              <a:t>            let mut left_min = data[i];</a:t>
            </a:r>
          </a:p>
          <a:p>
            <a:r>
              <a:t>            for j in (0..i).rev() {</a:t>
            </a:r>
          </a:p>
          <a:p>
            <a:r>
              <a:t>                if data[j] &lt; left_min { left_min = data[j]; }</a:t>
            </a:r>
          </a:p>
          <a:p>
            <a:r>
              <a:t>                if data[j] &gt; data[i] { break; }</a:t>
            </a:r>
          </a:p>
          <a:p>
            <a:r>
              <a:t>            }</a:t>
            </a:r>
          </a:p>
          <a:p>
            <a:r>
              <a:t>            if data[i] - left_min &gt;= min_prominence {</a:t>
            </a:r>
          </a:p>
          <a:p>
            <a:r>
              <a:t>                peaks.push((i, data[i]));</a:t>
            </a:r>
          </a:p>
          <a:p>
            <a:r>
              <a:t>            }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    peaks</a:t>
            </a:r>
          </a:p>
          <a:p>
            <a:r>
              <a:t>}</a:t>
            </a:r>
          </a:p>
          <a:p/>
          <a:p>
            <a:r>
              <a:t>--- C: bc_08 (c_src/bench.c:768-781) ---</a:t>
            </a:r>
          </a:p>
          <a:p>
            <a:r>
              <a:t>uint64_t bc_08(const uint64_t *data, size_t n, uint64_t min_prom) {</a:t>
            </a:r>
          </a:p>
          <a:p>
            <a:r>
              <a:t>    uint64_t count = 0;</a:t>
            </a:r>
          </a:p>
          <a:p>
            <a:r>
              <a:t>    for (size_t i = 1; i+1 &lt; n; i++) {</a:t>
            </a:r>
          </a:p>
          <a:p>
            <a:r>
              <a:t>        if (data[i] &gt; data[i-1] &amp;&amp; data[i] &gt; data[i+1]) {</a:t>
            </a:r>
          </a:p>
          <a:p>
            <a:r>
              <a:t>            uint64_t lmin = data[i];</a:t>
            </a:r>
          </a:p>
          <a:p>
            <a:r>
              <a:t>            for (size_t j = i; j &gt; 0; j--) {</a:t>
            </a:r>
          </a:p>
          <a:p>
            <a:r>
              <a:t>                if (data[j-1] &lt; lmin) lmin = data[j-1];</a:t>
            </a:r>
          </a:p>
          <a:p>
            <a:r>
              <a:t>                if (data[j-1] &gt; data[i]) break;</a:t>
            </a:r>
          </a:p>
          <a:p>
            <a:r>
              <a:t>            }</a:t>
            </a:r>
          </a:p>
          <a:p>
            <a:r>
              <a:t>            if (data[i] - lmin &gt;= min_prom) count++;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    return count;</a:t>
            </a:r>
          </a:p>
          <a:p>
            <a:r>
              <a:t>}</a:t>
            </a:r>
          </a:p>
          <a:p/>
          <a:p>
            <a:r>
              <a:t>=== SLIDE ASSEMBLY BLOCKS — COMPLETE + SOURCE MAPPING ===</a:t>
            </a:r>
          </a:p>
          <a:p/>
          <a:p>
            <a:r>
              <a:t>Each bounds check block does: load index, load slice.len(), cmp, jae panic.</a:t>
            </a:r>
          </a:p>
          <a:p>
            <a:r>
              <a:t>If index &lt; len: fall through to actual memory access (success).</a:t>
            </a:r>
          </a:p>
          <a:p>
            <a:r>
              <a:t>If index &gt;= len: jump to panic handler (lea panic_msg + call panic).</a:t>
            </a:r>
          </a:p>
          <a:p/>
          <a:p>
            <a:r>
              <a:t>--- Rust BOUNDS_CHECK block 1 (for data[i] access on line 968) ---</a:t>
            </a:r>
          </a:p>
          <a:p>
            <a:r>
              <a:t>Source line 968: if data[i] &gt; data[i - 1] &amp;&amp; data[i] &gt; data[i + 1]</a:t>
            </a:r>
          </a:p>
          <a:p>
            <a:r>
              <a:t>  rax = index (i), rcx = slice.len(). If i &lt; len, continue; else panic.</a:t>
            </a:r>
          </a:p>
          <a:p>
            <a:r>
              <a:t>0x46f085: mov      rax, qword ptr [rsp + 0x68]</a:t>
            </a:r>
          </a:p>
          <a:p>
            <a:r>
              <a:t>0x46f08a: mov      rcx, qword ptr [rsp + 0xa8]</a:t>
            </a:r>
          </a:p>
          <a:p>
            <a:r>
              <a:t>0x46f092: cmp      rax, rcx</a:t>
            </a:r>
          </a:p>
          <a:p>
            <a:r>
              <a:t>0x46f095: jb       0x46f0ae</a:t>
            </a:r>
          </a:p>
          <a:p>
            <a:r>
              <a:t>  → jb (jump if below): index &lt; len → success, proceed to access data[i]</a:t>
            </a:r>
          </a:p>
          <a:p/>
          <a:p>
            <a:r>
              <a:t>--- Rust BOUNDS_CHECK block 2 (for data[i-1] access on line 968) ---</a:t>
            </a:r>
          </a:p>
          <a:p>
            <a:r>
              <a:t>Source line 968: if data[i] &gt; data[i - 1] &amp;&amp; data[i] &gt; data[i + 1]</a:t>
            </a:r>
          </a:p>
          <a:p>
            <a:r>
              <a:t>  rax = index (i-1 or i+1), rcx = slice.len(). If &gt;= len, jump to panic.</a:t>
            </a:r>
          </a:p>
          <a:p>
            <a:r>
              <a:t>0x46f0ed: mov      rax, qword ptr [rsp + 0x70]</a:t>
            </a:r>
          </a:p>
          <a:p>
            <a:r>
              <a:t>0x46f0f2: mov      rcx, qword ptr [rsp + 0xa8]</a:t>
            </a:r>
          </a:p>
          <a:p>
            <a:r>
              <a:t>0x46f0fa: cmp      rax, rcx</a:t>
            </a:r>
          </a:p>
          <a:p>
            <a:r>
              <a:t>0x46f0fd: jae      0x46f128</a:t>
            </a:r>
          </a:p>
          <a:p>
            <a:r>
              <a:t>  → jae (jump if above/equal): index &gt;= len → panic</a:t>
            </a:r>
          </a:p>
          <a:p>
            <a:r>
              <a:t>  Target 0x46f128 is: lea rdx,[rip+panic_msg]; call panic_handler</a:t>
            </a:r>
          </a:p>
          <a:p/>
          <a:p>
            <a:r>
              <a:t>--- Rust BOUNDS_CHECK block 3 (for data[i+1] access on line 968) ---</a:t>
            </a:r>
          </a:p>
          <a:p>
            <a:r>
              <a:t>Source line 968: same line, third array access</a:t>
            </a:r>
          </a:p>
          <a:p>
            <a:r>
              <a:t>0x46f14a: mov      rax, qword ptr [rsp + 0x58]</a:t>
            </a:r>
          </a:p>
          <a:p>
            <a:r>
              <a:t>0x46f14f: mov      rcx, qword ptr [rsp + 0xa8]</a:t>
            </a:r>
          </a:p>
          <a:p>
            <a:r>
              <a:t>0x46f157: cmp      rax, rcx</a:t>
            </a:r>
          </a:p>
          <a:p>
            <a:r>
              <a:t>0x46f15a: jb       0x46f173</a:t>
            </a:r>
          </a:p>
          <a:p/>
          <a:p>
            <a:r>
              <a:t>--- Remaining 6 Rust BOUNDS_CHECK blocks (not shown on slide) ---</a:t>
            </a:r>
          </a:p>
          <a:p>
            <a:r>
              <a:t>Block 4 [line 969: let mut left_min = data[i] — check i &lt; len]:</a:t>
            </a:r>
          </a:p>
          <a:p>
            <a:r>
              <a:t>0x46f1b2: mov      rax, qword ptr [rsp + 0x70]</a:t>
            </a:r>
          </a:p>
          <a:p>
            <a:r>
              <a:t>0x46f1b7: mov      rcx, qword ptr [rsp + 0xa8]</a:t>
            </a:r>
          </a:p>
          <a:p>
            <a:r>
              <a:t>0x46f1bf: cmp      rax, rcx</a:t>
            </a:r>
          </a:p>
          <a:p>
            <a:r>
              <a:t>0x46f1c2: jae      0x46f1f2</a:t>
            </a:r>
          </a:p>
          <a:p/>
          <a:p>
            <a:r>
              <a:t>Block 5 [line 974: if data[i] - left_min — check i &lt; len]:</a:t>
            </a:r>
          </a:p>
          <a:p>
            <a:r>
              <a:t>0x46f2ae: mov      rax, qword ptr [rsp + 0x70]</a:t>
            </a:r>
          </a:p>
          <a:p>
            <a:r>
              <a:t>0x46f2b3: mov      rcx, qword ptr [rsp + 0xa8]</a:t>
            </a:r>
          </a:p>
          <a:p>
            <a:r>
              <a:t>0x46f2bb: cmp      rax, rcx</a:t>
            </a:r>
          </a:p>
          <a:p>
            <a:r>
              <a:t>0x46f2be: jb       0x46f3fa</a:t>
            </a:r>
          </a:p>
          <a:p/>
          <a:p>
            <a:r>
              <a:t>Block 6 [line 972: if data[j] &gt; data[i] — check j &lt; len]:</a:t>
            </a:r>
          </a:p>
          <a:p>
            <a:r>
              <a:t>0x46f308: mov      rax, qword ptr [rsp + 0x18]</a:t>
            </a:r>
          </a:p>
          <a:p>
            <a:r>
              <a:t>0x46f30d: mov      rcx, qword ptr [rsp + 0xa8]</a:t>
            </a:r>
          </a:p>
          <a:p>
            <a:r>
              <a:t>0x46f315: cmp      rax, rcx</a:t>
            </a:r>
          </a:p>
          <a:p>
            <a:r>
              <a:t>0x46f318: jb       0x46f36b</a:t>
            </a:r>
          </a:p>
          <a:p/>
          <a:p>
            <a:r>
              <a:t>Block 7 [line 971: if data[j] &lt; left_min — check j &lt; len]:</a:t>
            </a:r>
          </a:p>
          <a:p>
            <a:r>
              <a:t>0x46f31c: mov      rax, qword ptr [rsp + 0x18]</a:t>
            </a:r>
          </a:p>
          <a:p>
            <a:r>
              <a:t>0x46f321: mov      rcx, qword ptr [rsp + 0xa8]</a:t>
            </a:r>
          </a:p>
          <a:p>
            <a:r>
              <a:t>0x46f329: cmp      rax, rcx</a:t>
            </a:r>
          </a:p>
          <a:p>
            <a:r>
              <a:t>0x46f32c: jae      0x46f349</a:t>
            </a:r>
          </a:p>
          <a:p/>
          <a:p>
            <a:r>
              <a:t>Block 8 [line 974: data[i] access — check i &lt; len]:</a:t>
            </a:r>
          </a:p>
          <a:p>
            <a:r>
              <a:t>0x46f447: mov      rax, qword ptr [rsp + 8]</a:t>
            </a:r>
          </a:p>
          <a:p>
            <a:r>
              <a:t>0x46f44c: mov      rcx, qword ptr [rsp + 0xa0]</a:t>
            </a:r>
          </a:p>
          <a:p>
            <a:r>
              <a:t>0x46f454: cmp      rax, rcx</a:t>
            </a:r>
          </a:p>
          <a:p>
            <a:r>
              <a:t>0x46f457: jae      0x46f473</a:t>
            </a:r>
          </a:p>
          <a:p/>
          <a:p>
            <a:r>
              <a:t>Block 9 [line 975: peaks.push((i, data[i])) — check i &lt; len]:</a:t>
            </a:r>
          </a:p>
          <a:p>
            <a:r>
              <a:t>0x46f473: mov      rax, qword ptr [rsp + 0x70]</a:t>
            </a:r>
          </a:p>
          <a:p>
            <a:r>
              <a:t>0x46f478: mov      rcx, qword ptr [rsp + 0xa8]</a:t>
            </a:r>
          </a:p>
          <a:p>
            <a:r>
              <a:t>0x46f480: cmp      rax, rcx</a:t>
            </a:r>
          </a:p>
          <a:p>
            <a:r>
              <a:t>0x46f483: jae      0x46f4a5</a:t>
            </a:r>
          </a:p>
          <a:p/>
          <a:p>
            <a:r>
              <a:t>--- Example panic target (where jae jumps to on bounds check failure) ---</a:t>
            </a:r>
          </a:p>
          <a:p>
            <a:r>
              <a:t>Target of block 2's jae 0x46f128:</a:t>
            </a:r>
          </a:p>
          <a:p>
            <a:r>
              <a:t>0x46f128: mov      rsi, qword ptr [rsp + 0xa8]</a:t>
            </a:r>
          </a:p>
          <a:p>
            <a:r>
              <a:t>0x46f130: mov      rdi, qword ptr [rsp + 0x70]</a:t>
            </a:r>
          </a:p>
          <a:p>
            <a:r>
              <a:t>0x46f135: lea      rdx, [rip + 0x58cf4]</a:t>
            </a:r>
          </a:p>
          <a:p>
            <a:r>
              <a:t>0x46f13c: mov      rax, qword ptr [rip + 0x5d43d]</a:t>
            </a:r>
          </a:p>
          <a:p>
            <a:r>
              <a:t>0x46f143: call     rax</a:t>
            </a:r>
          </a:p>
          <a:p>
            <a:r>
              <a:t>  → loads panic message ("index out of bounds") and calls core::panicking::panic_bounds_check</a:t>
            </a:r>
          </a:p>
          <a:p/>
          <a:p>
            <a:r>
              <a:t>--- C block 1 shown (8 insns) ---</a:t>
            </a:r>
          </a:p>
          <a:p>
            <a:r>
              <a:t>Source lines 768-770: function prologue + variable init + for loop start</a:t>
            </a:r>
          </a:p>
          <a:p>
            <a:r>
              <a:t>  C has NO array bounds checking — raw pointer access.</a:t>
            </a:r>
          </a:p>
          <a:p>
            <a:r>
              <a:t>0x405453: push     rbp</a:t>
            </a:r>
          </a:p>
          <a:p>
            <a:r>
              <a:t>0x405454: mov      rbp, rsp</a:t>
            </a:r>
          </a:p>
          <a:p>
            <a:r>
              <a:t>0x405457: mov      qword ptr [rbp - 0x28], rdi</a:t>
            </a:r>
          </a:p>
          <a:p>
            <a:r>
              <a:t>0x40545b: mov      qword ptr [rbp - 0x30], rsi</a:t>
            </a:r>
          </a:p>
          <a:p>
            <a:r>
              <a:t>0x40545f: mov      qword ptr [rbp - 0x38], rdx</a:t>
            </a:r>
          </a:p>
          <a:p>
            <a:r>
              <a:t>0x405463: mov      qword ptr [rbp - 8], 0</a:t>
            </a:r>
          </a:p>
          <a:p>
            <a:r>
              <a:t>0x40546b: mov      qword ptr [rbp - 0x10], 1</a:t>
            </a:r>
          </a:p>
          <a:p>
            <a:r>
              <a:t>0x405473: jmp      0x4055aa</a:t>
            </a:r>
          </a:p>
          <a:p/>
          <a:p>
            <a:r>
              <a:t>--- C block 2 shown (8 insns) ---</a:t>
            </a:r>
          </a:p>
          <a:p>
            <a:r>
              <a:t>Source line 774: if (data[j-1] &lt; lmin) lmin = data[j-1];</a:t>
            </a:r>
          </a:p>
          <a:p>
            <a:r>
              <a:t>  Direct pointer arithmetic: shl+lea to compute offset, then load.</a:t>
            </a:r>
          </a:p>
          <a:p>
            <a:r>
              <a:t>  No cmp-index-vs-length — just raw memory access.</a:t>
            </a:r>
          </a:p>
          <a:p>
            <a:r>
              <a:t>0x40550a: mov      rax, qword ptr [rbp - 0x20]</a:t>
            </a:r>
          </a:p>
          <a:p>
            <a:r>
              <a:t>0x40550e: shl      rax, 3</a:t>
            </a:r>
          </a:p>
          <a:p>
            <a:r>
              <a:t>0x405512: lea      rdx, [rax - 8]</a:t>
            </a:r>
          </a:p>
          <a:p>
            <a:r>
              <a:t>0x405516: mov      rax, qword ptr [rbp - 0x28]</a:t>
            </a:r>
          </a:p>
          <a:p>
            <a:r>
              <a:t>0x40551a: add      rax, rdx</a:t>
            </a:r>
          </a:p>
          <a:p>
            <a:r>
              <a:t>0x40551d: mov      rax, qword ptr [rax]</a:t>
            </a:r>
          </a:p>
          <a:p>
            <a:r>
              <a:t>0x405520: cmp      qword ptr [rbp - 0x18], rax</a:t>
            </a:r>
          </a:p>
          <a:p>
            <a:r>
              <a:t>0x405524: jbe      0x405540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FULL SOURCE CODE ===</a:t>
            </a:r>
          </a:p>
          <a:p/>
          <a:p>
            <a:r>
              <a:t>--- Rust: qm_06 (rust_crate/src/main.rs:1280-1293) ---</a:t>
            </a:r>
          </a:p>
          <a:p>
            <a:r>
              <a:t>fn qm_06(data: &amp;[u64]) -&gt; Option&lt;u64&gt; {</a:t>
            </a:r>
          </a:p>
          <a:p>
            <a:r>
              <a:t>    let first = data.first()?;</a:t>
            </a:r>
          </a:p>
          <a:p>
            <a:r>
              <a:t>    let last = data.last()?;</a:t>
            </a:r>
          </a:p>
          <a:p>
            <a:r>
              <a:t>    if data.len() &lt; 3 { return None; }</a:t>
            </a:r>
          </a:p>
          <a:p>
            <a:r>
              <a:t>    let mid_idx = data.len() / 2;</a:t>
            </a:r>
          </a:p>
          <a:p>
            <a:r>
              <a:t>    let mid = data.get(mid_idx)?;</a:t>
            </a:r>
          </a:p>
          <a:p>
            <a:r>
              <a:t>    let range = last.checked_sub(*first)?;</a:t>
            </a:r>
          </a:p>
          <a:p>
            <a:r>
              <a:t>    let deviation = if *mid &gt; *first + range / 2 {</a:t>
            </a:r>
          </a:p>
          <a:p>
            <a:r>
              <a:t>        mid.checked_sub(*first + range / 2)?</a:t>
            </a:r>
          </a:p>
          <a:p>
            <a:r>
              <a:t>    } else {</a:t>
            </a:r>
          </a:p>
          <a:p>
            <a:r>
              <a:t>        (*first + range / 2).checked_sub(*mid)?</a:t>
            </a:r>
          </a:p>
          <a:p>
            <a:r>
              <a:t>    };</a:t>
            </a:r>
          </a:p>
          <a:p>
            <a:r>
              <a:t>    Some(range.wrapping_add(deviation))</a:t>
            </a:r>
          </a:p>
          <a:p>
            <a:r>
              <a:t>}</a:t>
            </a:r>
          </a:p>
          <a:p/>
          <a:p>
            <a:r>
              <a:t>--- C: qm_06 (c_src/bench.c:1025-1033) ---</a:t>
            </a:r>
          </a:p>
          <a:p>
            <a:r>
              <a:t>int qm_06(const uint64_t *data, size_t n, uint64_t *out) {</a:t>
            </a:r>
          </a:p>
          <a:p>
            <a:r>
              <a:t>    if (n &lt; 3) return 0;</a:t>
            </a:r>
          </a:p>
          <a:p>
            <a:r>
              <a:t>    uint64_t first = data[0], last = data[n-1], mid = data[n/2];</a:t>
            </a:r>
          </a:p>
          <a:p>
            <a:r>
              <a:t>    if (last &lt; first) return 0;</a:t>
            </a:r>
          </a:p>
          <a:p>
            <a:r>
              <a:t>    uint64_t range = last - first;</a:t>
            </a:r>
          </a:p>
          <a:p>
            <a:r>
              <a:t>    uint64_t center = first + range / 2;</a:t>
            </a:r>
          </a:p>
          <a:p>
            <a:r>
              <a:t>    uint64_t dev = mid &gt; center ? mid - center : center - mid;</a:t>
            </a:r>
          </a:p>
          <a:p>
            <a:r>
              <a:t>    *out = range + dev; return 1;</a:t>
            </a:r>
          </a:p>
          <a:p>
            <a:r>
              <a:t>}</a:t>
            </a:r>
          </a:p>
          <a:p/>
          <a:p>
            <a:r>
              <a:t>=== SLIDE ASSEMBLY BLOCKS — COMPLETE + SOURCE MAPPING ===</a:t>
            </a:r>
          </a:p>
          <a:p/>
          <a:p>
            <a:r>
              <a:t>--- Rust: discriminant check block (shown on slide) ---</a:t>
            </a:r>
          </a:p>
          <a:p>
            <a:r>
              <a:t>Source: compiler-generated for data.first()? (line 1281)</a:t>
            </a:r>
          </a:p>
          <a:p>
            <a:r>
              <a:t>0x47f06e: mov      qword ptr [rsp + 0x68], rax</a:t>
            </a:r>
          </a:p>
          <a:p>
            <a:r>
              <a:t>0x47f073: mov      rdx, qword ptr [rsp + 0x68]</a:t>
            </a:r>
          </a:p>
          <a:p>
            <a:r>
              <a:t>0x47f078: xor      eax, eax</a:t>
            </a:r>
          </a:p>
          <a:p>
            <a:r>
              <a:t>0x47f07a: mov      ecx, 1</a:t>
            </a:r>
          </a:p>
          <a:p>
            <a:r>
              <a:t>0x47f07f: cmp      rdx, 0</a:t>
            </a:r>
          </a:p>
          <a:p>
            <a:r>
              <a:t>0x47f083: cmove    rax, rcx</a:t>
            </a:r>
          </a:p>
          <a:p>
            <a:r>
              <a:t>0x47f087: test     rax, 1</a:t>
            </a:r>
          </a:p>
          <a:p>
            <a:r>
              <a:t>0x47f08d: je       0x47f0a3</a:t>
            </a:r>
          </a:p>
          <a:p/>
          <a:p>
            <a:r>
              <a:t>--- Rust: error-return block 1 (shown on slide) ---</a:t>
            </a:r>
          </a:p>
          <a:p>
            <a:r>
              <a:t>Source: compiler-generated for data.first()? (line 1281) error path</a:t>
            </a:r>
          </a:p>
          <a:p>
            <a:r>
              <a:t>0x47f094: mov      qword ptr [rsp + 0x58], rax</a:t>
            </a:r>
          </a:p>
          <a:p>
            <a:r>
              <a:t>0x47f099: mov      qword ptr [rsp + 0x60], rdx</a:t>
            </a:r>
          </a:p>
          <a:p>
            <a:r>
              <a:t>0x47f09e: jmp      0x47f33f</a:t>
            </a:r>
          </a:p>
          <a:p/>
          <a:p>
            <a:r>
              <a:t>--- Rust: error-return block 2 (shown on slide) ---</a:t>
            </a:r>
          </a:p>
          <a:p>
            <a:r>
              <a:t>Source: compiler-generated for data.last()? (line 1282) error path</a:t>
            </a:r>
          </a:p>
          <a:p>
            <a:r>
              <a:t>0x47f0f2: mov      qword ptr [rsp + 0x58], rax</a:t>
            </a:r>
          </a:p>
          <a:p>
            <a:r>
              <a:t>0x47f0f7: mov      qword ptr [rsp + 0x60], rdx</a:t>
            </a:r>
          </a:p>
          <a:p>
            <a:r>
              <a:t>0x47f0fc: jmp      0x47f33f</a:t>
            </a:r>
          </a:p>
          <a:p/>
          <a:p>
            <a:r>
              <a:t>--- Rust: error-return block 3 (shown on slide) ---</a:t>
            </a:r>
          </a:p>
          <a:p>
            <a:r>
              <a:t>Source line 1283: if data.len() &lt; 3 { return None; }</a:t>
            </a:r>
          </a:p>
          <a:p>
            <a:r>
              <a:t>0x47f166: mov      qword ptr [rsp + 0x58], 0</a:t>
            </a:r>
          </a:p>
          <a:p>
            <a:r>
              <a:t>0x47f16f: jmp      0x47f33f</a:t>
            </a:r>
          </a:p>
          <a:p/>
          <a:p>
            <a:r>
              <a:t>--- Remaining 5 Rust error-return blocks (not shown on slide) ---</a:t>
            </a:r>
          </a:p>
          <a:p>
            <a:r>
              <a:t>Block 4 [compiler-generated for data.get(mid_idx)? line 1285]:</a:t>
            </a:r>
          </a:p>
          <a:p>
            <a:r>
              <a:t>0x47f179: mov      qword ptr [rsp + 0x58], rax</a:t>
            </a:r>
          </a:p>
          <a:p>
            <a:r>
              <a:t>0x47f17e: mov      qword ptr [rsp + 0x60], rdx</a:t>
            </a:r>
          </a:p>
          <a:p>
            <a:r>
              <a:t>0x47f183: jmp      0x47f33f</a:t>
            </a:r>
          </a:p>
          <a:p/>
          <a:p>
            <a:r>
              <a:t>Block 5 [compiler-generated for last.checked_sub(*first)? line 1286]:</a:t>
            </a:r>
          </a:p>
          <a:p>
            <a:r>
              <a:t>0x47f1dd: mov      qword ptr [rsp + 0x58], rax</a:t>
            </a:r>
          </a:p>
          <a:p>
            <a:r>
              <a:t>0x47f1e2: mov      qword ptr [rsp + 0x60], rdx</a:t>
            </a:r>
          </a:p>
          <a:p>
            <a:r>
              <a:t>0x47f1e7: jmp      0x47f33f</a:t>
            </a:r>
          </a:p>
          <a:p/>
          <a:p>
            <a:r>
              <a:t>Block 6 [compiler-generated for mid.checked_sub()? line 1288]:</a:t>
            </a:r>
          </a:p>
          <a:p>
            <a:r>
              <a:t>0x47f2ed: mov      qword ptr [rsp + 0x58], rax</a:t>
            </a:r>
          </a:p>
          <a:p>
            <a:r>
              <a:t>0x47f2f2: mov      qword ptr [rsp + 0x60], rdx</a:t>
            </a:r>
          </a:p>
          <a:p>
            <a:r>
              <a:t>0x47f2f7: jmp      0x47f33f</a:t>
            </a:r>
          </a:p>
          <a:p/>
          <a:p>
            <a:r>
              <a:t>Block 7 [compiler-generated for .checked_sub(*mid)? line 1290]:</a:t>
            </a:r>
          </a:p>
          <a:p>
            <a:r>
              <a:t>0x47f39c: mov      qword ptr [rsp + 0x58], rax</a:t>
            </a:r>
          </a:p>
          <a:p>
            <a:r>
              <a:t>0x47f3a1: mov      qword ptr [rsp + 0x60], rdx</a:t>
            </a:r>
          </a:p>
          <a:p>
            <a:r>
              <a:t>0x47f3a6: jmp      0x47f33f</a:t>
            </a:r>
          </a:p>
          <a:p/>
          <a:p>
            <a:r>
              <a:t>Block 8 [lines 1287-1288: deviation branch]:</a:t>
            </a:r>
          </a:p>
          <a:p>
            <a:r>
              <a:t>0x47f3a8: mov      rax, qword ptr [rsp + 0xa0]</a:t>
            </a:r>
          </a:p>
          <a:p>
            <a:r>
              <a:t>0x47f3b0: mov      qword ptr [rsp + 0x100], rax</a:t>
            </a:r>
          </a:p>
          <a:p>
            <a:r>
              <a:t>0x47f3b8: mov      qword ptr [rsp + 0x90], rax</a:t>
            </a:r>
          </a:p>
          <a:p>
            <a:r>
              <a:t>0x47f3c0: jmp      0x47f311</a:t>
            </a:r>
          </a:p>
          <a:p/>
          <a:p>
            <a:r>
              <a:t>--- C block 1 shown (BODY, 7 insns) ---</a:t>
            </a:r>
          </a:p>
          <a:p>
            <a:r>
              <a:t>Source lines 1025-1026: int qm_06(...) { if (n &lt; 3) return 0;</a:t>
            </a:r>
          </a:p>
          <a:p>
            <a:r>
              <a:t>0x406bfd: push     rbp</a:t>
            </a:r>
          </a:p>
          <a:p>
            <a:r>
              <a:t>0x406bfe: mov      rbp, rsp</a:t>
            </a:r>
          </a:p>
          <a:p>
            <a:r>
              <a:t>0x406c01: mov      qword ptr [rbp - 0x38], rdi</a:t>
            </a:r>
          </a:p>
          <a:p>
            <a:r>
              <a:t>0x406c05: mov      qword ptr [rbp - 0x40], rsi</a:t>
            </a:r>
          </a:p>
          <a:p>
            <a:r>
              <a:t>0x406c09: mov      qword ptr [rbp - 0x48], rdx</a:t>
            </a:r>
          </a:p>
          <a:p>
            <a:r>
              <a:t>0x406c0d: cmp      qword ptr [rbp - 0x40], 2</a:t>
            </a:r>
          </a:p>
          <a:p>
            <a:r>
              <a:t>0x406c12: ja       0x406c1e</a:t>
            </a:r>
          </a:p>
          <a:p/>
          <a:p>
            <a:r>
              <a:t>--- C block 2 shown (BODY, 2 insns) ---</a:t>
            </a:r>
          </a:p>
          <a:p>
            <a:r>
              <a:t>Source line 1026: return 0 (when n &lt; 3)</a:t>
            </a:r>
          </a:p>
          <a:p>
            <a:r>
              <a:t>0x406c14: mov      eax, 0</a:t>
            </a:r>
          </a:p>
          <a:p>
            <a:r>
              <a:t>0x406c19: jmp      0x406cc9</a:t>
            </a:r>
          </a:p>
          <a:p/>
          <a:p>
            <a:r>
              <a:t>--- C block 3 shown (BODY, 2 insns) ---</a:t>
            </a:r>
          </a:p>
          <a:p>
            <a:r>
              <a:t>Source line 1028: return 0 (when last &lt; first)</a:t>
            </a:r>
          </a:p>
          <a:p>
            <a:r>
              <a:t>0x406c6a: mov      eax, 0</a:t>
            </a:r>
          </a:p>
          <a:p>
            <a:r>
              <a:t>0x406c6f: jmp      0x406cc9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FULL SOURCE CODE ===</a:t>
            </a:r>
          </a:p>
          <a:p/>
          <a:p>
            <a:r>
              <a:t>--- Rust: pu_08 (rust_crate/src/main.rs:1601-1611) ---</a:t>
            </a:r>
          </a:p>
          <a:p>
            <a:r>
              <a:t>fn pu_08(s: &amp;str) -&gt; u64 {</a:t>
            </a:r>
          </a:p>
          <a:p>
            <a:r>
              <a:t>    let parts: Vec&lt;&amp;str&gt; = s.split_whitespace().collect();</a:t>
            </a:r>
          </a:p>
          <a:p>
            <a:r>
              <a:t>    let first = parts.first().unwrap();</a:t>
            </a:r>
          </a:p>
          <a:p>
            <a:r>
              <a:t>    let last = parts.last().unwrap();</a:t>
            </a:r>
          </a:p>
          <a:p>
            <a:r>
              <a:t>    let mid = parts.get(parts.len() / 2).unwrap();</a:t>
            </a:r>
          </a:p>
          <a:p>
            <a:r>
              <a:t>    let mut sum = 0u64;</a:t>
            </a:r>
          </a:p>
          <a:p>
            <a:r>
              <a:t>    for ch in first.chars().chain(mid.chars()).chain(last.chars()) {</a:t>
            </a:r>
          </a:p>
          <a:p>
            <a:r>
              <a:t>        sum = sum.wrapping_add(ch as u64);</a:t>
            </a:r>
          </a:p>
          <a:p>
            <a:r>
              <a:t>    }</a:t>
            </a:r>
          </a:p>
          <a:p>
            <a:r>
              <a:t>    sum</a:t>
            </a:r>
          </a:p>
          <a:p>
            <a:r>
              <a:t>}</a:t>
            </a:r>
          </a:p>
          <a:p/>
          <a:p>
            <a:r>
              <a:t>--- C: pu_08 (c_src/bench.c:1280-1289) ---</a:t>
            </a:r>
          </a:p>
          <a:p>
            <a:r>
              <a:t>uint64_t pu_08(const char *s) {</a:t>
            </a:r>
          </a:p>
          <a:p>
            <a:r>
              <a:t>    char *words[256]; size_t nw = 0;</a:t>
            </a:r>
          </a:p>
          <a:p>
            <a:r>
              <a:t>    char copy[1024]; strncpy(copy, s, 1023); copy[1023] = '\0';</a:t>
            </a:r>
          </a:p>
          <a:p>
            <a:r>
              <a:t>    char *tok = strtok(copy, " ");</a:t>
            </a:r>
          </a:p>
          <a:p>
            <a:r>
              <a:t>    while (tok &amp;&amp; nw &lt; 256) { words[nw++] = tok; tok = strtok(NULL, " "); }</a:t>
            </a:r>
          </a:p>
          <a:p>
            <a:r>
              <a:t>    uint64_t sum = 0;</a:t>
            </a:r>
          </a:p>
          <a:p>
            <a:r>
              <a:t>    for (size_t i = 0; words[0][i]; i++) sum += words[0][i];</a:t>
            </a:r>
          </a:p>
          <a:p>
            <a:r>
              <a:t>    for (size_t i = 0; words[nw/2][i]; i++) sum += words[nw/2][i];</a:t>
            </a:r>
          </a:p>
          <a:p>
            <a:r>
              <a:t>    for (size_t i = 0; words[nw-1][i]; i++) sum += words[nw-1][i];</a:t>
            </a:r>
          </a:p>
          <a:p>
            <a:r>
              <a:t>    return sum;</a:t>
            </a:r>
          </a:p>
          <a:p>
            <a:r>
              <a:t>}</a:t>
            </a:r>
          </a:p>
          <a:p/>
          <a:p>
            <a:r>
              <a:t>=== SLIDE ASSEMBLY BLOCKS — COMPLETE + SOURCE MAPPING ===</a:t>
            </a:r>
          </a:p>
          <a:p/>
          <a:p>
            <a:r>
              <a:t>--- Rust: check block (0x47bf85) — is Option None? (shown on slide) ---</a:t>
            </a:r>
          </a:p>
          <a:p>
            <a:r>
              <a:t>Source: compiler-generated for parts.first().unwrap() (line 1603)</a:t>
            </a:r>
          </a:p>
          <a:p>
            <a:r>
              <a:t>  cmp rdx,0: checks if Option is None. If not None → jne to 0x47bfc8 (success).</a:t>
            </a:r>
          </a:p>
          <a:p>
            <a:r>
              <a:t>  If None → falls through to panic block at 0x47bfb4.</a:t>
            </a:r>
          </a:p>
          <a:p>
            <a:r>
              <a:t>0x47bf85: mov      rax, qword ptr [rsp + 0xc0]</a:t>
            </a:r>
          </a:p>
          <a:p>
            <a:r>
              <a:t>0x47bf8d: mov      qword ptr [rsp + 0x288], rax</a:t>
            </a:r>
          </a:p>
          <a:p>
            <a:r>
              <a:t>0x47bf95: mov      rdx, qword ptr [rsp + 0x288]</a:t>
            </a:r>
          </a:p>
          <a:p>
            <a:r>
              <a:t>0x47bf9d: mov      eax, 1</a:t>
            </a:r>
          </a:p>
          <a:p>
            <a:r>
              <a:t>0x47bfa2: xor      ecx, ecx</a:t>
            </a:r>
          </a:p>
          <a:p>
            <a:r>
              <a:t>0x47bfa4: cmp      rdx, 0</a:t>
            </a:r>
          </a:p>
          <a:p>
            <a:r>
              <a:t>0x47bfa8: cmove    rax, rcx</a:t>
            </a:r>
          </a:p>
          <a:p>
            <a:r>
              <a:t>0x47bfac: test     rax, 1</a:t>
            </a:r>
          </a:p>
          <a:p>
            <a:r>
              <a:t>0x47bfb2: jne      0x47bfc8</a:t>
            </a:r>
          </a:p>
          <a:p/>
          <a:p>
            <a:r>
              <a:t>--- Rust: panic block (0x47bfb4) — lea panic_msg + call panic (shown on slide) ---</a:t>
            </a:r>
          </a:p>
          <a:p>
            <a:r>
              <a:t>Source: compiler-generated for .unwrap() panic path (line 1603)</a:t>
            </a:r>
          </a:p>
          <a:p>
            <a:r>
              <a:t>  Opcodes: {call, lea, mov} — SAME as normal function calls.</a:t>
            </a:r>
          </a:p>
          <a:p>
            <a:r>
              <a:t>  This is the key problem: matcher can't distinguish panic from real calls.</a:t>
            </a:r>
          </a:p>
          <a:p>
            <a:r>
              <a:t>0x47bfb4: lea      rdi, [rip + 0x4d39d]</a:t>
            </a:r>
          </a:p>
          <a:p>
            <a:r>
              <a:t>0x47bfbb: mov      rax, qword ptr [rip + 0x506fe]</a:t>
            </a:r>
          </a:p>
          <a:p>
            <a:r>
              <a:t>0x47bfc2: call     rax</a:t>
            </a:r>
          </a:p>
          <a:p/>
          <a:p>
            <a:r>
              <a:t>--- Rust: normal call block — collect() (shown on slide for CONTRAST) ---</a:t>
            </a:r>
          </a:p>
          <a:p>
            <a:r>
              <a:t>Source line 1602: let parts: Vec&lt;&amp;str&gt; = s.split_whitespace().collect();</a:t>
            </a:r>
          </a:p>
          <a:p>
            <a:r>
              <a:t>  Opcodes: {call, lea, mov} — SAME as the panic block above!</a:t>
            </a:r>
          </a:p>
          <a:p>
            <a:r>
              <a:t>  This demonstrates why the matcher pairs them incorrectly.</a:t>
            </a:r>
          </a:p>
          <a:p>
            <a:r>
              <a:t>0x47bf02: mov      rsi, qword ptr [rsp + 0xc8]</a:t>
            </a:r>
          </a:p>
          <a:p>
            <a:r>
              <a:t>0x47bf0a: lea      rdi, [rsp + 0xe8]</a:t>
            </a:r>
          </a:p>
          <a:p>
            <a:r>
              <a:t>0x47bf12: mov      qword ptr [rsp + 0xd0], rdi</a:t>
            </a:r>
          </a:p>
          <a:p>
            <a:r>
              <a:t>0x47bf1a: call     0x42efa0</a:t>
            </a:r>
          </a:p>
          <a:p/>
          <a:p>
            <a:r>
              <a:t>--- C block 1 shown ---</a:t>
            </a:r>
          </a:p>
          <a:p>
            <a:r>
              <a:t>Source lines 1282-1283: strncpy(copy, s, 1023); copy[1023] = '\0';</a:t>
            </a:r>
          </a:p>
          <a:p>
            <a:r>
              <a:t>0x407fd6: mov      byte ptr [rbp - 0x831], 0</a:t>
            </a:r>
          </a:p>
          <a:p>
            <a:r>
              <a:t>0x407fdd: lea      rax, [rbp - 0xc30]</a:t>
            </a:r>
          </a:p>
          <a:p>
            <a:r>
              <a:t>0x407fe4: mov      esi, 0x40b019</a:t>
            </a:r>
          </a:p>
          <a:p>
            <a:r>
              <a:t>0x407fe9: mov      rdi, rax</a:t>
            </a:r>
          </a:p>
          <a:p>
            <a:r>
              <a:t>0x407fec: call     0x401110</a:t>
            </a:r>
          </a:p>
          <a:p/>
          <a:p>
            <a:r>
              <a:t>--- C block 2 shown ---</a:t>
            </a:r>
          </a:p>
          <a:p>
            <a:r>
              <a:t>Source line 1283: strtok loop — store result and continue</a:t>
            </a:r>
          </a:p>
          <a:p>
            <a:r>
              <a:t>0x407ff1: mov      qword ptr [rbp - 0x10], rax</a:t>
            </a:r>
          </a:p>
          <a:p>
            <a:r>
              <a:t>0x407ff5: jmp      0x408022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A6BD4"/>
                </a:solidFill>
                <a:latin typeface="Calibri"/>
              </a:defRPr>
            </a:pPr>
            <a:r>
              <a:t>RustDiff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1A2E"/>
                </a:solidFill>
                <a:latin typeface="Calibri"/>
              </a:defRPr>
            </a:pPr>
            <a:r>
              <a:t>How Rust Language Features Affect Binary Block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56D76"/>
                </a:solidFill>
                <a:latin typeface="Calibri"/>
              </a:defRPr>
            </a:pPr>
            <a:r>
              <a:t>Comparing 3 matching features across Rust vs. C  |  100 function pairs  |  DWARF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56D76"/>
                </a:solidFill>
                <a:latin typeface="Calibri"/>
              </a:defRPr>
            </a:pPr>
            <a:r>
              <a:t>Rroscha  •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Which block-level matching features remain stable across</a:t>
            </a:r>
            <a:br/>
            <a:r>
              <a:t>compiler optimizations (O0 → O2), and how does Rust's</a:t>
            </a:r>
            <a:br/>
            <a:r>
              <a:t>safety overhead affect each feature compared to equivalent 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6BD4"/>
                </a:solidFill>
                <a:latin typeface="Calibri"/>
              </a:defRPr>
            </a:pPr>
            <a:r>
              <a:t>Why this matters: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Binary diffing is key for security analysis, patch diffing, malware comparison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Tools like BinDiff &amp; Diaphora were designed with C/C++ in mind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Rust adoption is growing fast in systems software</a:t>
            </a:r>
          </a:p>
          <a:p>
            <a:pPr>
              <a:spcAft>
                <a:spcPts val="600"/>
              </a:spcAft>
              <a:defRPr sz="1600">
                <a:solidFill>
                  <a:srgbClr val="B47A00"/>
                </a:solidFill>
                <a:latin typeface="Calibri"/>
              </a:defRPr>
            </a:pPr>
            <a:r>
              <a:t>• Do existing matching features still work on Rust binaries?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291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6BD4"/>
                </a:solidFill>
                <a:latin typeface="Calibri"/>
              </a:defRPr>
            </a:pPr>
            <a:r>
              <a:t>Approach: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100 Rust functions + 100 equivalent C functions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Same algorithm, different language idioms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Compile each at O0 and O2 with debug info</a:t>
            </a:r>
          </a:p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Match O0↔O2 blocks, validate with DWARF ground truth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Calibri"/>
              </a:defRPr>
            </a:pPr>
            <a:r>
              <a:t>5 Rust-specific features tested (20 functions each):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Bounds Checking (bc_)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data[i] → cmp + jae + panic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Safe Abstractions (om_)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ownership model → Vec, Iterator, Drop generate extra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Drop Glue / RAII (dg_)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auto-generated drop_in_place&lt;T&gt;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? Operator (qm_)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Result/Option → discriminant check + early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Panic Paths (pu_)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.unwrap() → hidden panic call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Calibri"/>
              </a:defRPr>
            </a:pPr>
            <a:r>
              <a:t>3 matching features compared: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These are standard features used in binary diffing</a:t>
            </a:r>
            <a:br/>
            <a:r>
              <a:t>(BinDiff, Diaphora, etc.) — not novel to this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Value-based (micro-execution)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Run each block with test inputs via angr;</a:t>
            </a:r>
            <a:br/>
            <a:r>
              <a:t>compare register outputs, dataflow, memory pattern, constants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Opcode similarity (Jaccard)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Compare instruction type sets:</a:t>
            </a:r>
            <a:br/>
            <a:r>
              <a:t>overlap / union of {mov, cmp, add, ...}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• Constant similarity (Jaccard)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Compare embedded numeric constants:</a:t>
            </a:r>
            <a:br/>
            <a:r>
              <a:t>overlap / union of immediates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1106424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F39"/>
                </a:solidFill>
                <a:latin typeface="Calibri"/>
              </a:defRPr>
            </a:pPr>
            <a:r>
              <a:t>Ground Truth: DWARF debug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O0 and O2 binaries both built with DWARF symbols enabled (does not affect optimization).</a:t>
            </a:r>
            <a:br/>
            <a:r>
              <a:t>Each block is mapped to source lines. Two blocks are "correctly matched" iff they share ≥1 source line.</a:t>
            </a:r>
            <a:br/>
            <a:r>
              <a:t>Accuracy = correct pairs / total pairs (Hungarian algorithm, one-to-one).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56D76"/>
                </a:solidFill>
                <a:latin typeface="Calibri"/>
              </a:defRPr>
            </a:pPr>
            <a:r>
              <a:t>From source code to matched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55448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  <a:br/>
            <a:r>
              <a:t>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70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56D7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1554480" cy="914400"/>
          </a:xfrm>
          <a:prstGeom prst="round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Compile</a:t>
            </a:r>
            <a:br/>
            <a:r>
              <a:t>O0 &amp; 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58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56D7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1554480" cy="914400"/>
          </a:xfrm>
          <a:prstGeom prst="roundRect">
            <a:avLst/>
          </a:prstGeom>
          <a:solidFill>
            <a:srgbClr val="0E5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46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56D7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1554480" cy="914400"/>
          </a:xfrm>
          <a:prstGeom prst="round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Compute</a:t>
            </a:r>
            <a:br/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34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56D7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1554480" cy="914400"/>
          </a:xfrm>
          <a:prstGeom prst="roundRect">
            <a:avLst/>
          </a:prstGeom>
          <a:solidFill>
            <a:srgbClr val="B4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Hungarian</a:t>
            </a:r>
            <a:br/>
            <a:r>
              <a:t>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22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56D7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828800"/>
            <a:ext cx="1554480" cy="914400"/>
          </a:xfrm>
          <a:prstGeom prst="roundRect">
            <a:avLst/>
          </a:prstGeom>
          <a:solidFill>
            <a:srgbClr val="C43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DWARF</a:t>
            </a:r>
            <a:br/>
            <a: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Calibri"/>
              </a:defRPr>
            </a:pPr>
            <a:r>
              <a:t>Feature extraction example — one block: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47472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1A6BD4"/>
                </a:solidFill>
                <a:latin typeface="Calibri"/>
              </a:defRPr>
            </a:pPr>
            <a:r>
              <a:t>Real block: bc_01 Rust O0 — BOUNDS_CHECK (3 insns)</a:t>
            </a:r>
          </a:p>
          <a:p>
            <a:pPr>
              <a:defRPr sz="1200">
                <a:solidFill>
                  <a:srgbClr val="24292E"/>
                </a:solidFill>
                <a:latin typeface="Consolas"/>
              </a:defRPr>
            </a:pPr>
            <a:r>
              <a:t>0x46d8c0: mov      rax, qword ptr [rsp + 0x48]</a:t>
            </a:r>
            <a:br/>
            <a:r>
              <a:t>0x46d8c5: cmp      rax, qword ptr [rsp + 0x50]</a:t>
            </a:r>
            <a:br/>
            <a:r>
              <a:t>0x46d8ca: jb       0x46d8d7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57600"/>
            <a:ext cx="347472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167F39"/>
                </a:solidFill>
                <a:latin typeface="Calibri"/>
              </a:defRPr>
            </a:pPr>
            <a:r>
              <a:t>Extracted Features</a:t>
            </a:r>
          </a:p>
          <a:p>
            <a:pPr>
              <a:defRPr sz="1200">
                <a:solidFill>
                  <a:srgbClr val="24292E"/>
                </a:solidFill>
                <a:latin typeface="Consolas"/>
              </a:defRPr>
            </a:pPr>
            <a:r>
              <a:t>Opcodes:    {cmp, jb, mov}</a:t>
            </a:r>
            <a:br/>
            <a:r>
              <a:t>Constants:  {}</a:t>
            </a:r>
            <a:br/>
            <a:br/>
            <a:r>
              <a:t>Value-based: run with 4 test inputs,</a:t>
            </a:r>
            <a:br/>
            <a:r>
              <a:t>  collect register outputs + memory</a:t>
            </a:r>
            <a:br/>
            <a:r>
              <a:t>  access patterns + dataflow edges,</a:t>
            </a:r>
            <a:br/>
            <a:r>
              <a:t>  weighted combination (Jaccard)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657600"/>
            <a:ext cx="347472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B47A00"/>
                </a:solidFill>
                <a:latin typeface="Calibri"/>
              </a:defRPr>
            </a:pPr>
            <a:r>
              <a:t>Matching</a:t>
            </a:r>
          </a:p>
          <a:p>
            <a:pPr>
              <a:defRPr sz="1300">
                <a:solidFill>
                  <a:srgbClr val="24292E"/>
                </a:solidFill>
                <a:latin typeface="Consolas"/>
              </a:defRPr>
            </a:pPr>
            <a:r>
              <a:t>For each (O0_block, O2_block):</a:t>
            </a:r>
            <a:br/>
            <a:r>
              <a:t>  sim = Jaccard(feature_O0, feature_O2)</a:t>
            </a:r>
            <a:br/>
            <a:br/>
            <a:r>
              <a:t>Build cost matrix → Hungarian</a:t>
            </a:r>
            <a:br/>
            <a:r>
              <a:t>→ optimal 1-to-1 assignment</a:t>
            </a:r>
            <a:br/>
            <a:br/>
            <a:r>
              <a:t>Check each pair against DWARF</a:t>
            </a:r>
            <a:br/>
            <a:r>
              <a:t>→ accuracy = correct /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The Core Problem: Safety Blocks Look Too Similar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56D76"/>
                </a:solidFill>
                <a:latin typeface="Calibri"/>
              </a:defRPr>
            </a:pPr>
            <a:r>
              <a:t>Rust's safety features generate blocks that are hard to tell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7A00"/>
                </a:solidFill>
                <a:latin typeface="Calibri"/>
              </a:defRPr>
            </a:pPr>
            <a:r>
              <a:t>Problem 1: Safety blocks look alike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343B"/>
                </a:solidFill>
                <a:latin typeface="Calibri"/>
              </a:defRPr>
            </a:pPr>
            <a:r>
              <a:t>• Bounds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All look like: cmp + conditional jump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7A00"/>
                </a:solidFill>
                <a:latin typeface="Calibri"/>
              </a:defRPr>
            </a:pPr>
            <a:r>
              <a:t>• Drop glue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All look like: lea +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222E"/>
                </a:solidFill>
                <a:latin typeface="Calibri"/>
              </a:defRPr>
            </a:pPr>
            <a:r>
              <a:t>• Panic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926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All look like: lea +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• Discriminant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56D76"/>
                </a:solidFill>
                <a:latin typeface="Calibri"/>
              </a:defRPr>
            </a:pPr>
            <a:r>
              <a:t>All look like: test + conditional jump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These blocks also look like computation blocks — same opcodes</a:t>
            </a:r>
            <a:br/>
            <a:r>
              <a:t>(mov, cmp, call, lea). The matcher can't tell them apart.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7A00"/>
                </a:solidFill>
                <a:latin typeface="Calibri"/>
              </a:defRPr>
            </a:pPr>
            <a:r>
              <a:t>Problem 2: They appear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4343B"/>
                </a:solidFill>
                <a:latin typeface="Calibri"/>
              </a:defRPr>
            </a:pPr>
            <a:r>
              <a:t>Every data[i] → a bounds check block</a:t>
            </a:r>
          </a:p>
          <a:p>
            <a:pPr>
              <a:spcAft>
                <a:spcPts val="1000"/>
              </a:spcAft>
              <a:defRPr sz="1500">
                <a:solidFill>
                  <a:srgbClr val="B47A00"/>
                </a:solidFill>
                <a:latin typeface="Calibri"/>
              </a:defRPr>
            </a:pPr>
            <a:r>
              <a:t>Every scope exit → drop glue blocks</a:t>
            </a:r>
          </a:p>
          <a:p>
            <a:pPr>
              <a:spcAft>
                <a:spcPts val="1000"/>
              </a:spcAft>
              <a:defRPr sz="1500">
                <a:solidFill>
                  <a:srgbClr val="CF222E"/>
                </a:solidFill>
                <a:latin typeface="Calibri"/>
              </a:defRPr>
            </a:pPr>
            <a:r>
              <a:t>Every .unwrap() → a panic block</a:t>
            </a:r>
          </a:p>
          <a:p>
            <a:pPr>
              <a:spcAft>
                <a:spcPts val="1000"/>
              </a:spcAft>
              <a:defRPr sz="1500">
                <a:solidFill>
                  <a:srgbClr val="7C3AED"/>
                </a:solidFill>
                <a:latin typeface="Calibri"/>
              </a:defRPr>
            </a:pPr>
            <a:r>
              <a:t>Every ? operator → a discriminant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A single function can trigger dozens of these.</a:t>
            </a:r>
            <a:br/>
            <a:r>
              <a:t>Each one adds another near-identical block to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6424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222E"/>
                </a:solidFill>
                <a:latin typeface="Calibri"/>
              </a:defRPr>
            </a:pPr>
            <a:r>
              <a:t>Consequence: wrong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1. Many blocks with near-identical features → algorithm pairs the wrong ones with high confidence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2. After O2 optimization, some safety blocks get merged/eliminated → the O0 block has no true partner, but the algorithm still assigns it to something that looks similar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3. C doesn't have these — its blocks are more diverse, so features can distinguish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Example: Bounds Checking (bc_08)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56D76"/>
                </a:solidFill>
                <a:latin typeface="Calibri"/>
              </a:defRPr>
            </a:pPr>
            <a:r>
              <a:t>Every data[x] generates an identical bounds check block — C has none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30352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t>Rust source — every data[x] inserts a bounds check (index &lt; len)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t>for i in 1..n-1 {</a:t>
            </a:r>
            <a:br/>
            <a:r>
              <a:t>    if data[i] &gt; data[i-1]     // data[i]: cmp i,len; jae panic</a:t>
            </a:r>
            <a:br/>
            <a:r>
              <a:t>    &amp;&amp; data[i] &gt; data[i+1] {   // data[i-1]: cmp (i-1),len; jae panic</a:t>
            </a:r>
            <a:br/>
            <a:r>
              <a:t>        let mut lmin = data[i]; // data[i+1]: cmp (i+1),len; jae panic</a:t>
            </a:r>
            <a:br/>
            <a:r>
              <a:t>        for j in (0..i).rev() {</a:t>
            </a:r>
            <a:br/>
            <a:r>
              <a:t>            if data[j] &lt; lmin   // data[j]: cmp j,len; jae panic</a:t>
            </a:r>
            <a:br/>
            <a:r>
              <a:t>// Each data[x] → compiler inserts: load index, load len,</a:t>
            </a:r>
            <a:br/>
            <a:r>
              <a:t>//   cmp index,len; jae panic_handler. Success → access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80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00"/>
                </a:solidFill>
                <a:latin typeface="Calibri"/>
              </a:defRPr>
            </a:pPr>
            <a:r>
              <a:t>Rust assembly — 3 of 9 bounds check blocks (cmp index,len; jae panic):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154680"/>
            <a:ext cx="4572000" cy="84124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t>← data[i] access: cmp index, len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rax, qword ptr [rsp + 0x68]</a:t>
            </a:r>
            <a:br/>
            <a:r>
              <a:t>mov      rcx, qword ptr [rsp + 0xa8]</a:t>
            </a:r>
            <a:br/>
            <a:r>
              <a:t>cmp      rax, rcx</a:t>
            </a:r>
            <a:br/>
            <a:r>
              <a:t>jb       0x46f0ae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041648"/>
            <a:ext cx="4572000" cy="84124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t>← data[i-1] access: cmp index, len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rax, qword ptr [rsp + 0x70]</a:t>
            </a:r>
            <a:br/>
            <a:r>
              <a:t>mov      rcx, qword ptr [rsp + 0xa8]</a:t>
            </a:r>
            <a:br/>
            <a:r>
              <a:t>cmp      rax, rcx</a:t>
            </a:r>
            <a:br/>
            <a:r>
              <a:t>jae      0x46f128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928616"/>
            <a:ext cx="4572000" cy="84124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t>← data[i+1] access: cmp index, len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rax, qword ptr [rsp + 0x58]</a:t>
            </a:r>
            <a:br/>
            <a:r>
              <a:t>mov      rcx, qword ptr [rsp + 0xa8]</a:t>
            </a:r>
            <a:br/>
            <a:r>
              <a:t>cmp      rax, rcx</a:t>
            </a:r>
            <a:br/>
            <a:r>
              <a:t>jb       0x46f173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81558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222E"/>
                </a:solidFill>
                <a:latin typeface="Calibri"/>
              </a:defRPr>
            </a:pPr>
            <a:r>
              <a:t>↑ All 9 blocks: identical opcodes {cmp, jcc, mov} → 100% Jaccard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32004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C source — raw pointer, no checks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t>for (size_t i = 1; i+1 &lt; n; i++) {</a:t>
            </a:r>
            <a:br/>
            <a:r>
              <a:t>    if (data[i] &gt; data[i-1]</a:t>
            </a:r>
            <a:br/>
            <a:r>
              <a:t>     &amp;&amp; data[i] &gt; data[i+1]) {</a:t>
            </a:r>
            <a:br/>
            <a:r>
              <a:t>        uint64_t lmin = data[i];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00"/>
                </a:solidFill>
                <a:latin typeface="Calibri"/>
              </a:defRPr>
            </a:pPr>
            <a:r>
              <a:t>C assembly — no bounds checks, blocks are diverse: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880360"/>
            <a:ext cx="3200400" cy="14264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8 insns (line 768)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push     rbp</a:t>
            </a:r>
            <a:br/>
            <a:r>
              <a:t>mov      rbp, rsp</a:t>
            </a:r>
            <a:br/>
            <a:r>
              <a:t>mov      qword ptr [rbp - 0x28], rdi</a:t>
            </a:r>
            <a:br/>
            <a:r>
              <a:t>mov      qword ptr [rbp - 0x30], rsi</a:t>
            </a:r>
            <a:br/>
            <a:r>
              <a:t>mov      qword ptr [rbp - 0x38], rdx</a:t>
            </a:r>
            <a:br/>
            <a:r>
              <a:t>mov      qword ptr [rbp - 8], 0</a:t>
            </a:r>
            <a:br/>
            <a:r>
              <a:t>mov      qword ptr [rbp - 0x10], 1</a:t>
            </a:r>
            <a:br/>
            <a:r>
              <a:t>jmp      0x4055aa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4352544"/>
            <a:ext cx="3200400" cy="14264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8 insns (line 774)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rax, qword ptr [rbp - 0x20]</a:t>
            </a:r>
            <a:br/>
            <a:r>
              <a:t>shl      rax, 3</a:t>
            </a:r>
            <a:br/>
            <a:r>
              <a:t>lea      rdx, [rax - 8]</a:t>
            </a:r>
            <a:br/>
            <a:r>
              <a:t>mov      rax, qword ptr [rbp - 0x28]</a:t>
            </a:r>
            <a:br/>
            <a:r>
              <a:t>add      rax, rdx</a:t>
            </a:r>
            <a:br/>
            <a:r>
              <a:t>mov      rax, qword ptr [rax]</a:t>
            </a:r>
            <a:br/>
            <a:r>
              <a:t>cmp      qword ptr [rbp - 0x18], rax</a:t>
            </a:r>
            <a:br/>
            <a:r>
              <a:t>jbe      0x405540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8247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7F39"/>
                </a:solidFill>
                <a:latin typeface="Calibri"/>
              </a:defRPr>
            </a:pPr>
            <a:r>
              <a:t>↑ No bounds checks — blocks have different opcodes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83464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6BD4"/>
                </a:solidFill>
                <a:latin typeface="Calibri"/>
              </a:defRPr>
            </a:pPr>
            <a:r>
              <a:t>bc_08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9202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Value: R 11% | C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774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Opcodes: R 32% | C 42%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8346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Constants: R 11% | C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4747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  <a:latin typeface="Calibri"/>
              </a:defRPr>
            </a:pPr>
            <a:r>
              <a:t>9 bounds check blocks:</a:t>
            </a:r>
            <a:br/>
            <a:r>
              <a:t>each does cmp index,len;</a:t>
            </a:r>
            <a:br/>
            <a:r>
              <a:t>jae panic. All identical</a:t>
            </a:r>
            <a:br/>
            <a:r>
              <a:t>opcodes {cmp, jcc, mov}.</a:t>
            </a:r>
            <a:br/>
            <a:br/>
            <a:r>
              <a:t>C: raw pointer, no checks →</a:t>
            </a:r>
            <a:br/>
            <a:r>
              <a:t>diverse opcodes → easy to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Example: ? Operator (qm_06)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56D76"/>
                </a:solidFill>
                <a:latin typeface="Calibri"/>
              </a:defRPr>
            </a:pPr>
            <a:r>
              <a:t>Each ? generates identical error-propagation blocks — C has no equivalent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30352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t>Rust — each ? inserts: discriminant check + error return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t>fn qm_06(data: &amp;[u64]) -&gt; Option&lt;u64&gt; {</a:t>
            </a:r>
            <a:br/>
            <a:r>
              <a:t>    let first = data.first()?;          // ← ? generates 2 blocks</a:t>
            </a:r>
            <a:br/>
            <a:r>
              <a:t>    let last = data.last()?;            // ← ? generates 2 blocks</a:t>
            </a:r>
            <a:br/>
            <a:r>
              <a:t>    let mid = data.get(mid_idx)?;       // ← ? generates 2 blocks</a:t>
            </a:r>
            <a:br/>
            <a:r>
              <a:t>    let range = last.checked_sub(*first)?;</a:t>
            </a:r>
            <a:br/>
            <a:r>
              <a:t>    // ... 6 uses of ?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6974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00"/>
                </a:solidFill>
                <a:latin typeface="Calibri"/>
              </a:defRPr>
            </a:pPr>
            <a:r>
              <a:t>Rust assembly — 8 identical error-return blocks (of 49 O0 blocks):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971800"/>
            <a:ext cx="4572000" cy="14264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discriminant check: is it None?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qword ptr [rsp + 0x68], rax</a:t>
            </a:r>
            <a:br/>
            <a:r>
              <a:t>mov      rdx, qword ptr [rsp + 0x68]</a:t>
            </a:r>
            <a:br/>
            <a:r>
              <a:t>xor      eax, eax</a:t>
            </a:r>
            <a:br/>
            <a:r>
              <a:t>mov      ecx, 1</a:t>
            </a:r>
            <a:br/>
            <a:r>
              <a:t>cmp      rdx, 0</a:t>
            </a:r>
            <a:br/>
            <a:r>
              <a:t>cmove    rax, rcx</a:t>
            </a:r>
            <a:br/>
            <a:r>
              <a:t>test     rax, 1</a:t>
            </a:r>
            <a:br/>
            <a:r>
              <a:t>je       0x47f0a3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443984"/>
            <a:ext cx="4572000" cy="69494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B47A00"/>
                </a:solidFill>
                <a:latin typeface="Calibri"/>
              </a:defRPr>
            </a:pPr>
            <a:r>
              <a:t>error-return block 1 — same opcodes {jmp, mov}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qword ptr [rsp + 0x58], rax</a:t>
            </a:r>
            <a:br/>
            <a:r>
              <a:t>mov      qword ptr [rsp + 0x60], rdx</a:t>
            </a:r>
            <a:br/>
            <a:r>
              <a:t>jmp      0x47f33f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184648"/>
            <a:ext cx="4572000" cy="69494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B47A00"/>
                </a:solidFill>
                <a:latin typeface="Calibri"/>
              </a:defRPr>
            </a:pPr>
            <a:r>
              <a:t>error-return block 2 — same opcodes {jmp, mov}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qword ptr [rsp + 0x58], rax</a:t>
            </a:r>
            <a:br/>
            <a:r>
              <a:t>mov      qword ptr [rsp + 0x60], rdx</a:t>
            </a:r>
            <a:br/>
            <a:r>
              <a:t>jmp      0x47f33f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925312"/>
            <a:ext cx="45720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B47A00"/>
                </a:solidFill>
                <a:latin typeface="Calibri"/>
              </a:defRPr>
            </a:pPr>
            <a:r>
              <a:t>error-return block 3 — same opcodes {jmp, mov}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qword ptr [rsp + 0x58], 0</a:t>
            </a:r>
            <a:br/>
            <a:r>
              <a:t>jmp      0x47f33f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196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222E"/>
                </a:solidFill>
                <a:latin typeface="Calibri"/>
              </a:defRPr>
            </a:pPr>
            <a:r>
              <a:t>↑ 8 blocks with identical opcodes {jmp, mov} — matcher pairs wrong 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371600"/>
            <a:ext cx="32004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C — return code instead of Option/?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t>int qm_06(const uint64_t *data, size_t n,</a:t>
            </a:r>
            <a:br/>
            <a:r>
              <a:t>           uint64_t *out) {</a:t>
            </a:r>
            <a:br/>
            <a:r>
              <a:t>    if (n &lt; 3) return 0; // ← just return 0</a:t>
            </a:r>
            <a:br/>
            <a:r>
              <a:t>    uint64_t first=data[0], last=data[n-1];</a:t>
            </a:r>
            <a:br/>
            <a:r>
              <a:t>    if (last &lt; first) return 0;</a:t>
            </a:r>
            <a:br/>
            <a:r>
              <a:t>    uint64_t range = last - first;</a:t>
            </a:r>
            <a:br/>
            <a:r>
              <a:t>    // No Option, no ? — direct access + return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00"/>
                </a:solidFill>
                <a:latin typeface="Calibri"/>
              </a:defRPr>
            </a:pPr>
            <a:r>
              <a:t>C assembly — 9 O0 blocks, diverse opcodes: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697480"/>
            <a:ext cx="3200400" cy="1280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7 insns (line 1025)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push     rbp</a:t>
            </a:r>
            <a:br/>
            <a:r>
              <a:t>mov      rbp, rsp</a:t>
            </a:r>
            <a:br/>
            <a:r>
              <a:t>mov      qword ptr [rbp - 0x38], rdi</a:t>
            </a:r>
            <a:br/>
            <a:r>
              <a:t>mov      qword ptr [rbp - 0x40], rsi</a:t>
            </a:r>
            <a:br/>
            <a:r>
              <a:t>mov      qword ptr [rbp - 0x48], rdx</a:t>
            </a:r>
            <a:br/>
            <a:r>
              <a:t>cmp      qword ptr [rbp - 0x40], 2</a:t>
            </a:r>
            <a:br/>
            <a:r>
              <a:t>ja       0x406c1e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4023360"/>
            <a:ext cx="32004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2 insns (line 1026)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eax, 0</a:t>
            </a:r>
            <a:br/>
            <a:r>
              <a:t>jmp      0x406cc9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617720"/>
            <a:ext cx="3200400" cy="69494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3 insns (line 1031)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rax, qword ptr [rbp - 0x18]</a:t>
            </a:r>
            <a:br/>
            <a:r>
              <a:t>sub      rax, qword ptr [rbp - 0x28]</a:t>
            </a:r>
            <a:br/>
            <a:r>
              <a:t>jmp      0x406cae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3583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7F39"/>
                </a:solidFill>
                <a:latin typeface="Calibri"/>
              </a:defRPr>
            </a:pPr>
            <a:r>
              <a:t>↑ No error-return blocks → diverse opcodes → easy to match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71600"/>
            <a:ext cx="283464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6BD4"/>
                </a:solidFill>
                <a:latin typeface="Calibri"/>
              </a:defRPr>
            </a:pPr>
            <a:r>
              <a:t>qm_06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9202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Value: R 25% | C 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3774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Opcodes: R 50% | C 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8346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Constants: R 0% | C 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4747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  <a:latin typeface="Calibri"/>
              </a:defRPr>
            </a:pPr>
            <a:r>
              <a:t>49 Rust O0 blocks, only 22%</a:t>
            </a:r>
            <a:br/>
            <a:r>
              <a:t>unique opcode sets.</a:t>
            </a:r>
            <a:br/>
            <a:br/>
            <a:r>
              <a:t>6 uses of ? → 8 identical</a:t>
            </a:r>
            <a:br/>
            <a:r>
              <a:t>error-return blocks.</a:t>
            </a:r>
            <a:br/>
            <a:br/>
            <a:r>
              <a:t>C: 9 O0 blocks, 89% unique.</a:t>
            </a:r>
            <a:br/>
            <a:r>
              <a:t>No ? operator → diverse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Example: Panic Paths (pu_08)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56D76"/>
                </a:solidFill>
                <a:latin typeface="Calibri"/>
              </a:defRPr>
            </a:pPr>
            <a:r>
              <a:t>.unwrap() inserts check + panic blocks — panic blocks look like normal call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530352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t>Rust source — .unwrap() inserts check + panic blocks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t>fn pu_08(s: &amp;str) -&gt; u64 {</a:t>
            </a:r>
            <a:br/>
            <a:r>
              <a:t>    let parts: Vec&lt;&amp;str&gt; = s.split_whitespace().collect();</a:t>
            </a:r>
            <a:br/>
            <a:r>
              <a:t>    let first = parts.first().unwrap(); // check+panic</a:t>
            </a:r>
            <a:br/>
            <a:r>
              <a:t>    let last = parts.last().unwrap();   // check+panic</a:t>
            </a:r>
            <a:br/>
            <a:r>
              <a:t>    let mid = parts.get(parts.len()/2).unwrap(); // check+panic</a:t>
            </a:r>
            <a:br/>
            <a:r>
              <a:t>// Each .unwrap(): check discriminant → if None, call panic</a:t>
            </a:r>
            <a:br/>
            <a:r>
              <a:t>// Panic block uses {lea, mov, call} — same as normal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80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00"/>
                </a:solidFill>
                <a:latin typeface="Calibri"/>
              </a:defRPr>
            </a:pPr>
            <a:r>
              <a:t>Rust assembly — .unwrap() expansion + a normal call block: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154680"/>
            <a:ext cx="4572000" cy="15727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check: is Option None? (cmp rdx,0 → if None, fall to panic)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rax, qword ptr [rsp + 0xc0]</a:t>
            </a:r>
            <a:br/>
            <a:r>
              <a:t>mov      qword ptr [rsp + 0x288], rax</a:t>
            </a:r>
            <a:br/>
            <a:r>
              <a:t>mov      rdx, qword ptr [rsp + 0x288]</a:t>
            </a:r>
            <a:br/>
            <a:r>
              <a:t>mov      eax, 1</a:t>
            </a:r>
            <a:br/>
            <a:r>
              <a:t>xor      ecx, ecx</a:t>
            </a:r>
            <a:br/>
            <a:r>
              <a:t>cmp      rdx, 0</a:t>
            </a:r>
            <a:br/>
            <a:r>
              <a:t>cmove    rax, rcx</a:t>
            </a:r>
            <a:br/>
            <a:r>
              <a:t>test     rax, 1</a:t>
            </a:r>
            <a:br/>
            <a:r>
              <a:t>jne      0x47bfc8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4773168"/>
            <a:ext cx="4572000" cy="69494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CF222E"/>
                </a:solidFill>
                <a:latin typeface="Calibri"/>
              </a:defRPr>
            </a:pPr>
            <a:r>
              <a:t>panic block: lea panic_msg + call panic — opcodes: {call, lea, mov}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lea      rdi, [rip + 0x4d39d]</a:t>
            </a:r>
            <a:br/>
            <a:r>
              <a:t>mov      rax, qword ptr [rip + 0x506fe]</a:t>
            </a:r>
            <a:br/>
            <a:r>
              <a:t>call     rax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5513832"/>
            <a:ext cx="4572000" cy="84124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normal call block (collect) — opcodes: {call, lea, mov} ← SAME!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rsi, qword ptr [rsp + 0xc8]</a:t>
            </a:r>
            <a:br/>
            <a:r>
              <a:t>lea      rdi, [rsp + 0xe8]</a:t>
            </a:r>
            <a:br/>
            <a:r>
              <a:t>mov      qword ptr [rsp + 0xd0], rdi</a:t>
            </a:r>
            <a:br/>
            <a:r>
              <a:t>call     0x42efa0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F222E"/>
                </a:solidFill>
                <a:latin typeface="Calibri"/>
              </a:defRPr>
            </a:pPr>
            <a:r>
              <a:t>↑ Panic block and normal call block: same opcodes {call, lea, mov} — matcher can't distinguish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3200400" cy="13716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C — direct array access, no panic paths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t>uint64_t pu_08(const char *s) {</a:t>
            </a:r>
            <a:br/>
            <a:r>
              <a:t>    char *words[256]; // strtok tokenize</a:t>
            </a:r>
            <a:br/>
            <a:r>
              <a:t>    // Direct access — no .unwrap(), no panic:</a:t>
            </a:r>
            <a:br/>
            <a:r>
              <a:t>    for (i=0; words[0][i]; i++) sum += words[0][i];</a:t>
            </a:r>
            <a:br/>
            <a:r>
              <a:t>    for (i=0; words[nw/2][i]; i++) sum += words[nw/2][i];</a:t>
            </a:r>
            <a:br/>
            <a:r>
              <a:t>    for (i=0; words[nw-1][i]; i++) sum += words[nw-1][i];</a:t>
            </a:r>
            <a:br/>
            <a:r>
              <a:t>    return sum;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A00"/>
                </a:solidFill>
                <a:latin typeface="Calibri"/>
              </a:defRPr>
            </a:pPr>
            <a:r>
              <a:t>C assembly — no panic paths, blocks are diverse: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880360"/>
            <a:ext cx="3200400" cy="9875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5 insns (line 1282)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byte ptr [rbp - 0x831], 0</a:t>
            </a:r>
            <a:br/>
            <a:r>
              <a:t>lea      rax, [rbp - 0xc30]</a:t>
            </a:r>
            <a:br/>
            <a:r>
              <a:t>mov      esi, 0x40b019</a:t>
            </a:r>
            <a:br/>
            <a:r>
              <a:t>mov      rdi, rax</a:t>
            </a:r>
            <a:br/>
            <a:r>
              <a:t>call     0x401110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913632"/>
            <a:ext cx="32004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t>2 insns (line 1283)</a:t>
            </a:r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t>mov      qword ptr [rbp - 0x10], rax</a:t>
            </a:r>
            <a:br/>
            <a:r>
              <a:t>jmp      0x408022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507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7F39"/>
                </a:solidFill>
                <a:latin typeface="Calibri"/>
              </a:defRPr>
            </a:pPr>
            <a:r>
              <a:t>↑ No panic paths → diverse opcodes → easy to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126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pu_08 Rust O0: 43 blocks, only 10 unique opcode sets. 11× {call, lea, mov}, 12× {jmp, mov}. Matcher can't tell them apart.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71600"/>
            <a:ext cx="283464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6BD4"/>
                </a:solidFill>
                <a:latin typeface="Calibri"/>
              </a:defRPr>
            </a:pPr>
            <a:r>
              <a:t>pu_08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9202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Value: R 5% | C 35%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774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Opcodes: R 5% | C 71%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834640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t>Constants: R 5% | C 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47472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56D76"/>
                </a:solidFill>
                <a:latin typeface="Calibri"/>
              </a:defRPr>
            </a:pPr>
            <a:r>
              <a:t>3× .unwrap() = 3 panic blocks</a:t>
            </a:r>
            <a:br/>
            <a:r>
              <a:t>each with {call, lea, mov}.</a:t>
            </a:r>
            <a:br/>
            <a:br/>
            <a:r>
              <a:t>11 blocks share {call, lea, mov}</a:t>
            </a:r>
            <a:br/>
            <a:r>
              <a:t>(panic + normal calls mixed).</a:t>
            </a:r>
            <a:br/>
            <a:br/>
            <a:r>
              <a:t>C: no panic paths →</a:t>
            </a:r>
            <a:br/>
            <a:r>
              <a:t>blocks are diverse.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Results: C Wins Across All Features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56D76"/>
                </a:solidFill>
                <a:latin typeface="Calibri"/>
              </a:defRPr>
            </a:pPr>
            <a:r>
              <a:t>C wins 288 / 300 individual comparisons (100 pairs × 3 methods)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349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828800"/>
            <a:ext cx="11633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t>Rust</a:t>
            </a:r>
            <a:br/>
            <a:r>
              <a:t>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828800"/>
            <a:ext cx="11633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t>C</a:t>
            </a:r>
            <a:br/>
            <a:r>
              <a:t>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828800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t>Value</a:t>
            </a:r>
            <a:br/>
            <a:r>
              <a:t>R /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t>Opcodes</a:t>
            </a:r>
            <a:br/>
            <a:r>
              <a:t>R /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28800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t>Constants</a:t>
            </a:r>
            <a:br/>
            <a:r>
              <a:t>R /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9960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Bounds Checking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21996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C4343B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21996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0E5AAB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996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10%  /  46%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21996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24%  /  58%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21996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10%  /  62%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11120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Safe Abstractions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61112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C4343B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1112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0E5AAB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261112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2%  /  41%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61112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10%  /  63%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261112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6%  /  71%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02280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Drop Glue / RAII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00228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C4343B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00228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0E5AAB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00228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4%  /  44%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00228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5%  /  51%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300228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5%  /  59%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93440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? Operator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339344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C4343B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39344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0E5AA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39344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10%  /  50%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39344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22%  /  50%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339344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12%  /  39%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84600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Panic Paths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78460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C4343B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3784600"/>
            <a:ext cx="11633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0E5AA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378460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10%  /  59%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78460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21%  /  74%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18320" y="3784600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t>14%  /  90%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26560"/>
            <a:ext cx="25349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B47A00"/>
                </a:solidFill>
                <a:latin typeface="Calibri"/>
              </a:defRPr>
            </a:pPr>
            <a:r>
              <a:t>AVERAGE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4226560"/>
            <a:ext cx="11633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C4343B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4226560"/>
            <a:ext cx="11633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0E5AAB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60" y="4226560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B47A00"/>
                </a:solidFill>
                <a:latin typeface="Calibri"/>
              </a:defRPr>
            </a:pPr>
            <a:r>
              <a:t>7%  /  48%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4226560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B47A00"/>
                </a:solidFill>
                <a:latin typeface="Calibri"/>
              </a:defRPr>
            </a:pPr>
            <a:r>
              <a:t>16%  /  59%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18320" y="4226560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25400"/>
          <a:lstStyle/>
          <a:p>
            <a:pPr algn="ctr">
              <a:defRPr sz="1300">
                <a:solidFill>
                  <a:srgbClr val="B47A00"/>
                </a:solidFill>
                <a:latin typeface="Calibri"/>
              </a:defRPr>
            </a:pPr>
            <a:r>
              <a:t>9%  /  64%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A6BD4"/>
                </a:solidFill>
                <a:latin typeface="Calibri"/>
              </a:defRPr>
            </a:pPr>
            <a:r>
              <a:t>Key patterns: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All Rust features hurt matching — safety blocks (bounds checks, error returns, panic paths) share the same opcodes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The ? operator and drop glue create the most identical blocks — worst Rust accuracy (~5-7%)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Opcodes is the best method overall — but still struggles when many blocks share the same instruction types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C has no equivalent safety overhead → blocks are inherently more diverse → easier to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343B"/>
                </a:solidFill>
                <a:latin typeface="Calibri"/>
              </a:defRPr>
            </a:pPr>
            <a:r>
              <a:t>1. Rust binaries are significantly harder to match than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C wins 288/300 comparisons. Gap ranges from 3× to 10× depending on feature and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47A00"/>
                </a:solidFill>
                <a:latin typeface="Calibri"/>
              </a:defRPr>
            </a:pPr>
            <a:r>
              <a:t>2. Root cause: safety blocks are too similar to each other and to computation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Bounds checks, drop glue, panic paths all use generic opcodes (cmp, call, lea, mov) — the same</a:t>
            </a:r>
            <a:br/>
            <a:r>
              <a:t>instructions used in real computation. High frequency + low diversity → wrong matches.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3. Drop glue is the hardest, panic paths the easiest (among Rust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Drop blocks (lea+call) are indistinguishable from normal function calls.</a:t>
            </a:r>
            <a:br/>
            <a:r>
              <a:t>Panic blocks at least survive O2, providing some stable anchor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7F39"/>
                </a:solidFill>
                <a:latin typeface="Calibri"/>
              </a:defRPr>
            </a:pPr>
            <a:r>
              <a:t>4. Opcode Jaccard is the most robust feature, but still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When many blocks share the same opcode set, even the best feature can't tell them apart.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6BD4"/>
                </a:solidFill>
                <a:latin typeface="Calibri"/>
              </a:defRPr>
            </a:pPr>
            <a:r>
              <a:t>5. Possible direction: Rust-aware pre-filtering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Identify safety blocks before matching (by call target, branch pattern) and handle them separately.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Discussion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6BD4"/>
                </a:solidFill>
                <a:latin typeface="Calibri"/>
              </a:defRPr>
            </a:pPr>
            <a:r>
              <a:t>Possible improvements: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Pre-identify safety blocks (bounds check, drop, panic)</a:t>
            </a:r>
            <a:br/>
            <a:r>
              <a:t>  and filter or weight them differently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Hybrid matching: combine structural + value features</a:t>
            </a:r>
            <a:br/>
            <a:r>
              <a:t>  with language-aware weights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Test on real-world Rust projects</a:t>
            </a:r>
            <a:br/>
            <a:r>
              <a:t>  (coreutils, ripgrep) beyond synthetic corpus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Try other features: CFG structure similarity,</a:t>
            </a:r>
            <a:br/>
            <a:r>
              <a:t>  string references, callee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6BD4"/>
                </a:solidFill>
                <a:latin typeface="Calibri"/>
              </a:defRPr>
            </a:pPr>
            <a:r>
              <a:t>Limitations of this study: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Synthetic corpus — 100 hand-written function pairs</a:t>
            </a:r>
            <a:br/>
            <a:r>
              <a:t>  may not represent all real-world patterns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Single compiler (rustc 1.92 + gcc 11.4)</a:t>
            </a:r>
            <a:br/>
            <a:r>
              <a:t>  — results may vary across toolchains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Only O0 vs O2 — O1, Os, Oz not tested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Block-level matching only —</a:t>
            </a:r>
            <a:br/>
            <a:r>
              <a:t>  function-level matching not evaluated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